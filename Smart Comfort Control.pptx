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notesMasterIdLst>
    <p:notesMasterId r:id="rId15"/>
  </p:notesMasterIdLst>
  <p:sldIdLst>
    <p:sldId id="256" r:id="rId2"/>
    <p:sldId id="257" r:id="rId3"/>
    <p:sldId id="259" r:id="rId4"/>
    <p:sldId id="258" r:id="rId5"/>
    <p:sldId id="260" r:id="rId6"/>
    <p:sldId id="267" r:id="rId7"/>
    <p:sldId id="261" r:id="rId8"/>
    <p:sldId id="262" r:id="rId9"/>
    <p:sldId id="266" r:id="rId10"/>
    <p:sldId id="268" r:id="rId11"/>
    <p:sldId id="269" r:id="rId12"/>
    <p:sldId id="270" r:id="rId13"/>
    <p:sldId id="271" r:id="rId14"/>
  </p:sldIdLst>
  <p:sldSz cx="12192000" cy="6858000"/>
  <p:notesSz cx="6858000" cy="9144000"/>
  <p:defaultTextStyle>
    <a:defPPr>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771" autoAdjust="0"/>
  </p:normalViewPr>
  <p:slideViewPr>
    <p:cSldViewPr snapToGrid="0">
      <p:cViewPr varScale="1">
        <p:scale>
          <a:sx n="78" d="100"/>
          <a:sy n="78" d="100"/>
        </p:scale>
        <p:origin x="878"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o-RO"/>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FCDD25-F416-4E4F-9656-01342F81424E}" type="datetimeFigureOut">
              <a:rPr lang="ro-RO" smtClean="0"/>
              <a:t>21.04.2026</a:t>
            </a:fld>
            <a:endParaRPr lang="ro-RO"/>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o-RO"/>
          </a:p>
        </p:txBody>
      </p:sp>
      <p:sp>
        <p:nvSpPr>
          <p:cNvPr id="5" name="Substituent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o-RO"/>
              <a:t>Faceţi clic pentru a edita Master stiluri text</a:t>
            </a:r>
          </a:p>
          <a:p>
            <a:pPr lvl="1"/>
            <a:r>
              <a:rPr lang="ro-RO"/>
              <a:t>al doilea nivel</a:t>
            </a:r>
          </a:p>
          <a:p>
            <a:pPr lvl="2"/>
            <a:r>
              <a:rPr lang="ro-RO"/>
              <a:t>al treilea nivel</a:t>
            </a:r>
          </a:p>
          <a:p>
            <a:pPr lvl="3"/>
            <a:r>
              <a:rPr lang="ro-RO"/>
              <a:t>al patrulea nivel</a:t>
            </a:r>
          </a:p>
          <a:p>
            <a:pPr lvl="4"/>
            <a:r>
              <a:rPr lang="ro-RO"/>
              <a:t>al cincilea nivel</a:t>
            </a:r>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o-RO"/>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E3A6C8-28E6-4542-941F-ED2733AEC5D2}" type="slidenum">
              <a:rPr lang="ro-RO" smtClean="0"/>
              <a:t>‹#›</a:t>
            </a:fld>
            <a:endParaRPr lang="ro-RO"/>
          </a:p>
        </p:txBody>
      </p:sp>
    </p:spTree>
    <p:extLst>
      <p:ext uri="{BB962C8B-B14F-4D97-AF65-F5344CB8AC3E}">
        <p14:creationId xmlns:p14="http://schemas.microsoft.com/office/powerpoint/2010/main" val="33427444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5"/>
          </p:nvPr>
        </p:nvSpPr>
        <p:spPr/>
        <p:txBody>
          <a:bodyPr/>
          <a:lstStyle/>
          <a:p>
            <a:fld id="{89E3A6C8-28E6-4542-941F-ED2733AEC5D2}" type="slidenum">
              <a:rPr lang="ro-RO" smtClean="0"/>
              <a:t>8</a:t>
            </a:fld>
            <a:endParaRPr lang="ro-RO"/>
          </a:p>
        </p:txBody>
      </p:sp>
    </p:spTree>
    <p:extLst>
      <p:ext uri="{BB962C8B-B14F-4D97-AF65-F5344CB8AC3E}">
        <p14:creationId xmlns:p14="http://schemas.microsoft.com/office/powerpoint/2010/main" val="403986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r>
              <a:rPr lang="ro-RO" dirty="0"/>
              <a:t>Sistemul funcționează în mai multe etape. În primul rând, senzorii conectați la ESP32 măsoară valorile ambientale, cum ar fi temperatura, umiditatea, nivelul gazelor și nivelul de zgomot. Aceste date sunt citite și procesate local de microcontroler.</a:t>
            </a:r>
          </a:p>
          <a:p>
            <a:r>
              <a:rPr lang="ro-RO" dirty="0"/>
              <a:t>Pe baza acestor valori, ESP32 utilizează un algoritm de tip fuzzy pentru a lua decizii mai precise și progresive. Astfel, în loc de praguri fixe, sistemul poate regla gradual viteza ventilatorului sau volumul muzicii în funcție de condițiile din mediu.</a:t>
            </a:r>
          </a:p>
          <a:p>
            <a:r>
              <a:rPr lang="ro-RO" dirty="0"/>
              <a:t>În același timp, datele sunt trimise prin </a:t>
            </a:r>
            <a:r>
              <a:rPr lang="ro-RO" dirty="0" err="1"/>
              <a:t>Wi</a:t>
            </a:r>
            <a:r>
              <a:rPr lang="ro-RO" dirty="0"/>
              <a:t>-Fi către serverul </a:t>
            </a:r>
            <a:r>
              <a:rPr lang="ro-RO" dirty="0" err="1"/>
              <a:t>backend</a:t>
            </a:r>
            <a:r>
              <a:rPr lang="ro-RO" dirty="0"/>
              <a:t>, folosind o cerere HTTP către </a:t>
            </a:r>
            <a:r>
              <a:rPr lang="ro-RO" dirty="0" err="1"/>
              <a:t>endpoint-ul</a:t>
            </a:r>
            <a:r>
              <a:rPr lang="ro-RO" dirty="0"/>
              <a:t> /update-data. Serverul primește aceste informații și le salvează în baza de date </a:t>
            </a:r>
            <a:r>
              <a:rPr lang="ro-RO" dirty="0" err="1"/>
              <a:t>PostgreSQL</a:t>
            </a:r>
            <a:r>
              <a:rPr lang="ro-RO" dirty="0"/>
              <a:t>.</a:t>
            </a:r>
          </a:p>
          <a:p>
            <a:r>
              <a:rPr lang="ro-RO" dirty="0"/>
              <a:t>Interfața web solicită periodic datele de la server prin </a:t>
            </a:r>
            <a:r>
              <a:rPr lang="ro-RO" dirty="0" err="1"/>
              <a:t>endpoint-ul</a:t>
            </a:r>
            <a:r>
              <a:rPr lang="ro-RO" dirty="0"/>
              <a:t> /get-</a:t>
            </a:r>
            <a:r>
              <a:rPr lang="ro-RO" dirty="0" err="1"/>
              <a:t>latest</a:t>
            </a:r>
            <a:r>
              <a:rPr lang="ro-RO" dirty="0"/>
              <a:t>, iar utilizatorul poate vedea valorile în timp real pe </a:t>
            </a:r>
            <a:r>
              <a:rPr lang="ro-RO" dirty="0" err="1"/>
              <a:t>dashboard</a:t>
            </a:r>
            <a:r>
              <a:rPr lang="ro-RO" dirty="0"/>
              <a:t>. Dacă utilizatorul dorește să intervină manual, poate trimite comenzi prin interfață, care ajung la server și apoi sunt preluate de ESP32.</a:t>
            </a:r>
          </a:p>
          <a:p>
            <a:endParaRPr lang="ro-RO" dirty="0"/>
          </a:p>
        </p:txBody>
      </p:sp>
      <p:sp>
        <p:nvSpPr>
          <p:cNvPr id="4" name="Substituent număr diapozitiv 3"/>
          <p:cNvSpPr>
            <a:spLocks noGrp="1"/>
          </p:cNvSpPr>
          <p:nvPr>
            <p:ph type="sldNum" sz="quarter" idx="5"/>
          </p:nvPr>
        </p:nvSpPr>
        <p:spPr/>
        <p:txBody>
          <a:bodyPr/>
          <a:lstStyle/>
          <a:p>
            <a:fld id="{89E3A6C8-28E6-4542-941F-ED2733AEC5D2}" type="slidenum">
              <a:rPr lang="ro-RO" smtClean="0"/>
              <a:t>9</a:t>
            </a:fld>
            <a:endParaRPr lang="ro-RO"/>
          </a:p>
        </p:txBody>
      </p:sp>
    </p:spTree>
    <p:extLst>
      <p:ext uri="{BB962C8B-B14F-4D97-AF65-F5344CB8AC3E}">
        <p14:creationId xmlns:p14="http://schemas.microsoft.com/office/powerpoint/2010/main" val="40818403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4/21/2026</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3514622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4/21/2026</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49113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4/21/2026</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3089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4/21/2026</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51406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4/21/2026</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712735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4/21/2026</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0402415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4/21/2026</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62946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4/21/2026</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326776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4/21/2026</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8576905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4/21/2026</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9986467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4/21/2026</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30479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4/21/2026</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8637250"/>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2" r:id="rId6"/>
    <p:sldLayoutId id="2147483698" r:id="rId7"/>
    <p:sldLayoutId id="2147483699" r:id="rId8"/>
    <p:sldLayoutId id="2147483700" r:id="rId9"/>
    <p:sldLayoutId id="2147483701" r:id="rId10"/>
    <p:sldLayoutId id="214748370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nodejs.org/"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55C6C6E5-05E6-8321-D027-7C232C515C3F}"/>
              </a:ext>
            </a:extLst>
          </p:cNvPr>
          <p:cNvPicPr>
            <a:picLocks noChangeAspect="1"/>
          </p:cNvPicPr>
          <p:nvPr/>
        </p:nvPicPr>
        <p:blipFill>
          <a:blip r:embed="rId2"/>
          <a:srcRect r="11111"/>
          <a:stretch>
            <a:fillRect/>
          </a:stretch>
        </p:blipFill>
        <p:spPr>
          <a:xfrm>
            <a:off x="1" y="10"/>
            <a:ext cx="12192000" cy="6857990"/>
          </a:xfrm>
          <a:prstGeom prst="rect">
            <a:avLst/>
          </a:prstGeom>
        </p:spPr>
      </p:pic>
      <p:sp useBgFill="1">
        <p:nvSpPr>
          <p:cNvPr id="11" name="Rectangle 10">
            <a:extLst>
              <a:ext uri="{FF2B5EF4-FFF2-40B4-BE49-F238E27FC236}">
                <a16:creationId xmlns:a16="http://schemas.microsoft.com/office/drawing/2014/main" id="{D30DD7D3-2712-4491-B2C2-5FC23330C7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3569" y="1066800"/>
            <a:ext cx="5128322" cy="47244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u 1">
            <a:extLst>
              <a:ext uri="{FF2B5EF4-FFF2-40B4-BE49-F238E27FC236}">
                <a16:creationId xmlns:a16="http://schemas.microsoft.com/office/drawing/2014/main" id="{C0446456-E368-7385-6EAE-EFD97C0AAF9F}"/>
              </a:ext>
            </a:extLst>
          </p:cNvPr>
          <p:cNvSpPr>
            <a:spLocks noGrp="1"/>
          </p:cNvSpPr>
          <p:nvPr>
            <p:ph type="ctrTitle"/>
          </p:nvPr>
        </p:nvSpPr>
        <p:spPr>
          <a:xfrm>
            <a:off x="898737" y="1562101"/>
            <a:ext cx="4359744" cy="2738530"/>
          </a:xfrm>
        </p:spPr>
        <p:txBody>
          <a:bodyPr anchor="t">
            <a:normAutofit/>
          </a:bodyPr>
          <a:lstStyle/>
          <a:p>
            <a:pPr algn="ctr"/>
            <a:r>
              <a:rPr lang="ro-RO" dirty="0" err="1"/>
              <a:t>Smart</a:t>
            </a:r>
            <a:r>
              <a:rPr lang="ro-RO" dirty="0"/>
              <a:t> </a:t>
            </a:r>
            <a:r>
              <a:rPr lang="ro-RO" dirty="0" err="1"/>
              <a:t>Comfort</a:t>
            </a:r>
            <a:r>
              <a:rPr lang="ro-RO" dirty="0"/>
              <a:t> Control</a:t>
            </a:r>
          </a:p>
        </p:txBody>
      </p:sp>
      <p:sp>
        <p:nvSpPr>
          <p:cNvPr id="3" name="Subtitlu 2">
            <a:extLst>
              <a:ext uri="{FF2B5EF4-FFF2-40B4-BE49-F238E27FC236}">
                <a16:creationId xmlns:a16="http://schemas.microsoft.com/office/drawing/2014/main" id="{D3A51AA3-26A2-5E9C-C7AD-752F267C452A}"/>
              </a:ext>
            </a:extLst>
          </p:cNvPr>
          <p:cNvSpPr>
            <a:spLocks noGrp="1"/>
          </p:cNvSpPr>
          <p:nvPr>
            <p:ph type="subTitle" idx="1"/>
          </p:nvPr>
        </p:nvSpPr>
        <p:spPr>
          <a:xfrm>
            <a:off x="900273" y="4300631"/>
            <a:ext cx="4358208" cy="933760"/>
          </a:xfrm>
        </p:spPr>
        <p:txBody>
          <a:bodyPr>
            <a:normAutofit/>
          </a:bodyPr>
          <a:lstStyle/>
          <a:p>
            <a:pPr algn="ctr"/>
            <a:r>
              <a:rPr lang="ro-RO" dirty="0"/>
              <a:t>Coman Raluca</a:t>
            </a:r>
          </a:p>
        </p:txBody>
      </p:sp>
      <p:cxnSp>
        <p:nvCxnSpPr>
          <p:cNvPr id="13" name="Straight Connector 12">
            <a:extLst>
              <a:ext uri="{FF2B5EF4-FFF2-40B4-BE49-F238E27FC236}">
                <a16:creationId xmlns:a16="http://schemas.microsoft.com/office/drawing/2014/main" id="{FFD0734C-004D-4938-8EA0-2C3867A11A6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36937" y="5780876"/>
            <a:ext cx="5131168"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77917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mb 3">
            <a:extLst>
              <a:ext uri="{FF2B5EF4-FFF2-40B4-BE49-F238E27FC236}">
                <a16:creationId xmlns:a16="http://schemas.microsoft.com/office/drawing/2014/main" id="{CC3A9808-7529-9586-AE4F-124B8AE6C945}"/>
              </a:ext>
            </a:extLst>
          </p:cNvPr>
          <p:cNvSpPr/>
          <p:nvPr/>
        </p:nvSpPr>
        <p:spPr>
          <a:xfrm>
            <a:off x="7433187" y="0"/>
            <a:ext cx="4719483" cy="3716593"/>
          </a:xfrm>
          <a:custGeom>
            <a:avLst/>
            <a:gdLst>
              <a:gd name="csX0" fmla="*/ 0 w 5801032"/>
              <a:gd name="csY0" fmla="*/ 2964426 h 5928852"/>
              <a:gd name="csX1" fmla="*/ 2900516 w 5801032"/>
              <a:gd name="csY1" fmla="*/ 0 h 5928852"/>
              <a:gd name="csX2" fmla="*/ 5801032 w 5801032"/>
              <a:gd name="csY2" fmla="*/ 2964426 h 5928852"/>
              <a:gd name="csX3" fmla="*/ 2900516 w 5801032"/>
              <a:gd name="csY3" fmla="*/ 5928852 h 5928852"/>
              <a:gd name="csX4" fmla="*/ 0 w 5801032"/>
              <a:gd name="csY4" fmla="*/ 2964426 h 5928852"/>
              <a:gd name="csX0" fmla="*/ 0 w 5801032"/>
              <a:gd name="csY0" fmla="*/ 634180 h 3598606"/>
              <a:gd name="csX1" fmla="*/ 2290916 w 5801032"/>
              <a:gd name="csY1" fmla="*/ 0 h 3598606"/>
              <a:gd name="csX2" fmla="*/ 5801032 w 5801032"/>
              <a:gd name="csY2" fmla="*/ 634180 h 3598606"/>
              <a:gd name="csX3" fmla="*/ 2900516 w 5801032"/>
              <a:gd name="csY3" fmla="*/ 3598606 h 3598606"/>
              <a:gd name="csX4" fmla="*/ 0 w 5801032"/>
              <a:gd name="csY4" fmla="*/ 634180 h 3598606"/>
              <a:gd name="csX0" fmla="*/ 0 w 4719483"/>
              <a:gd name="csY0" fmla="*/ 717754 h 3682180"/>
              <a:gd name="csX1" fmla="*/ 2290916 w 4719483"/>
              <a:gd name="csY1" fmla="*/ 83574 h 3682180"/>
              <a:gd name="csX2" fmla="*/ 4719483 w 4719483"/>
              <a:gd name="csY2" fmla="*/ 0 h 3682180"/>
              <a:gd name="csX3" fmla="*/ 2900516 w 4719483"/>
              <a:gd name="csY3" fmla="*/ 3682180 h 3682180"/>
              <a:gd name="csX4" fmla="*/ 0 w 4719483"/>
              <a:gd name="csY4" fmla="*/ 717754 h 3682180"/>
              <a:gd name="csX0" fmla="*/ 0 w 4719483"/>
              <a:gd name="csY0" fmla="*/ 752167 h 3716593"/>
              <a:gd name="csX1" fmla="*/ 2281083 w 4719483"/>
              <a:gd name="csY1" fmla="*/ 0 h 3716593"/>
              <a:gd name="csX2" fmla="*/ 4719483 w 4719483"/>
              <a:gd name="csY2" fmla="*/ 34413 h 3716593"/>
              <a:gd name="csX3" fmla="*/ 2900516 w 4719483"/>
              <a:gd name="csY3" fmla="*/ 3716593 h 3716593"/>
              <a:gd name="csX4" fmla="*/ 0 w 4719483"/>
              <a:gd name="csY4" fmla="*/ 752167 h 3716593"/>
            </a:gdLst>
            <a:ahLst/>
            <a:cxnLst>
              <a:cxn ang="0">
                <a:pos x="csX0" y="csY0"/>
              </a:cxn>
              <a:cxn ang="0">
                <a:pos x="csX1" y="csY1"/>
              </a:cxn>
              <a:cxn ang="0">
                <a:pos x="csX2" y="csY2"/>
              </a:cxn>
              <a:cxn ang="0">
                <a:pos x="csX3" y="csY3"/>
              </a:cxn>
              <a:cxn ang="0">
                <a:pos x="csX4" y="csY4"/>
              </a:cxn>
            </a:cxnLst>
            <a:rect l="l" t="t" r="r" b="b"/>
            <a:pathLst>
              <a:path w="4719483" h="3716593">
                <a:moveTo>
                  <a:pt x="0" y="752167"/>
                </a:moveTo>
                <a:lnTo>
                  <a:pt x="2281083" y="0"/>
                </a:lnTo>
                <a:lnTo>
                  <a:pt x="4719483" y="34413"/>
                </a:lnTo>
                <a:lnTo>
                  <a:pt x="2900516" y="3716593"/>
                </a:lnTo>
                <a:lnTo>
                  <a:pt x="0" y="752167"/>
                </a:lnTo>
                <a:close/>
              </a:path>
            </a:pathLst>
          </a:custGeom>
          <a:solidFill>
            <a:schemeClr val="accent5"/>
          </a:solidFill>
          <a:ln>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2" name="Titlu 1">
            <a:extLst>
              <a:ext uri="{FF2B5EF4-FFF2-40B4-BE49-F238E27FC236}">
                <a16:creationId xmlns:a16="http://schemas.microsoft.com/office/drawing/2014/main" id="{5CAFE3E9-E7F8-5521-B697-3AB29B20026A}"/>
              </a:ext>
            </a:extLst>
          </p:cNvPr>
          <p:cNvSpPr>
            <a:spLocks noGrp="1"/>
          </p:cNvSpPr>
          <p:nvPr>
            <p:ph type="title"/>
          </p:nvPr>
        </p:nvSpPr>
        <p:spPr/>
        <p:txBody>
          <a:bodyPr/>
          <a:lstStyle/>
          <a:p>
            <a:r>
              <a:rPr lang="ro-RO" dirty="0"/>
              <a:t>Importanța sistemului </a:t>
            </a:r>
          </a:p>
        </p:txBody>
      </p:sp>
      <p:sp>
        <p:nvSpPr>
          <p:cNvPr id="3" name="Substituent conținut 2">
            <a:extLst>
              <a:ext uri="{FF2B5EF4-FFF2-40B4-BE49-F238E27FC236}">
                <a16:creationId xmlns:a16="http://schemas.microsoft.com/office/drawing/2014/main" id="{6E4B109C-DDC4-511C-B581-A9E556BBD3C1}"/>
              </a:ext>
            </a:extLst>
          </p:cNvPr>
          <p:cNvSpPr>
            <a:spLocks noGrp="1"/>
          </p:cNvSpPr>
          <p:nvPr>
            <p:ph idx="1"/>
          </p:nvPr>
        </p:nvSpPr>
        <p:spPr/>
        <p:txBody>
          <a:bodyPr/>
          <a:lstStyle/>
          <a:p>
            <a:pPr marL="0" indent="0">
              <a:buNone/>
            </a:pPr>
            <a:r>
              <a:rPr lang="ro-RO" dirty="0"/>
              <a:t>	Sistemul rezolvă problema lipsei unui control automat al condițiilor ambientale în spații comerciale. De multe ori, temperatura, aerul sau zgomotul nu sunt optimizate, ceea ce afectează confortul. Prin automatizare și utilizarea tehnologiilor </a:t>
            </a:r>
            <a:r>
              <a:rPr lang="ro-RO" dirty="0" err="1"/>
              <a:t>IoT</a:t>
            </a:r>
            <a:r>
              <a:rPr lang="ro-RO" dirty="0"/>
              <a:t>, sistemul poate ajusta aceste condiții în mod inteligent, fără intervenție umană.</a:t>
            </a:r>
          </a:p>
        </p:txBody>
      </p:sp>
    </p:spTree>
    <p:extLst>
      <p:ext uri="{BB962C8B-B14F-4D97-AF65-F5344CB8AC3E}">
        <p14:creationId xmlns:p14="http://schemas.microsoft.com/office/powerpoint/2010/main" val="8750163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BA31BE23-F9AD-4EA9-F0AC-4A8A3511EABD}"/>
              </a:ext>
            </a:extLst>
          </p:cNvPr>
          <p:cNvSpPr>
            <a:spLocks noGrp="1"/>
          </p:cNvSpPr>
          <p:nvPr>
            <p:ph type="title"/>
          </p:nvPr>
        </p:nvSpPr>
        <p:spPr>
          <a:xfrm>
            <a:off x="640080" y="1291366"/>
            <a:ext cx="9214884" cy="1746802"/>
          </a:xfrm>
        </p:spPr>
        <p:txBody>
          <a:bodyPr/>
          <a:lstStyle/>
          <a:p>
            <a:r>
              <a:rPr lang="ro-RO" dirty="0"/>
              <a:t>Obiectivul proiectului</a:t>
            </a:r>
          </a:p>
        </p:txBody>
      </p:sp>
      <p:sp>
        <p:nvSpPr>
          <p:cNvPr id="5" name="Rectangle 2">
            <a:extLst>
              <a:ext uri="{FF2B5EF4-FFF2-40B4-BE49-F238E27FC236}">
                <a16:creationId xmlns:a16="http://schemas.microsoft.com/office/drawing/2014/main" id="{9CB3EB9C-63A3-F7A9-8109-FAC625B3EEBD}"/>
              </a:ext>
            </a:extLst>
          </p:cNvPr>
          <p:cNvSpPr>
            <a:spLocks noGrp="1" noChangeArrowheads="1"/>
          </p:cNvSpPr>
          <p:nvPr>
            <p:ph type="body" idx="1"/>
          </p:nvPr>
        </p:nvSpPr>
        <p:spPr bwMode="auto">
          <a:xfrm>
            <a:off x="1770790" y="3429000"/>
            <a:ext cx="5189241"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o-RO" altLang="ro-RO" sz="1800" b="0" i="0" u="none" strike="noStrike" cap="none" normalizeH="0" baseline="0" dirty="0">
              <a:ln>
                <a:noFill/>
              </a:ln>
              <a:solidFill>
                <a:schemeClr val="tx1"/>
              </a:solidFill>
              <a:effectLst/>
              <a:latin typeface="Grandview Display (Corp)"/>
            </a:endParaRPr>
          </a:p>
          <a:p>
            <a:pPr marL="0" marR="0" lvl="0" indent="0" algn="l" defTabSz="914400" rtl="0" eaLnBrk="0" fontAlgn="base" latinLnBrk="0" hangingPunct="0">
              <a:lnSpc>
                <a:spcPct val="100000"/>
              </a:lnSpc>
              <a:spcBef>
                <a:spcPct val="0"/>
              </a:spcBef>
              <a:spcAft>
                <a:spcPct val="0"/>
              </a:spcAft>
              <a:buClrTx/>
              <a:buSzTx/>
              <a:tabLst/>
            </a:pPr>
            <a:r>
              <a:rPr kumimoji="0" lang="ro-RO" altLang="ro-RO" sz="2400" b="0" i="0" u="none" strike="noStrike" cap="none" normalizeH="0" baseline="0" dirty="0">
                <a:ln>
                  <a:noFill/>
                </a:ln>
                <a:solidFill>
                  <a:schemeClr val="tx1"/>
                </a:solidFill>
                <a:effectLst/>
                <a:latin typeface="Grandview Display (Corp)"/>
              </a:rPr>
              <a:t>Monitorizarea condițiilor ambientale </a:t>
            </a:r>
          </a:p>
          <a:p>
            <a:pPr marL="0" marR="0" lvl="0" indent="0" algn="l" defTabSz="914400" rtl="0" eaLnBrk="0" fontAlgn="base" latinLnBrk="0" hangingPunct="0">
              <a:lnSpc>
                <a:spcPct val="100000"/>
              </a:lnSpc>
              <a:spcBef>
                <a:spcPct val="0"/>
              </a:spcBef>
              <a:spcAft>
                <a:spcPct val="0"/>
              </a:spcAft>
              <a:buClrTx/>
              <a:buSzTx/>
              <a:tabLst/>
            </a:pPr>
            <a:endParaRPr kumimoji="0" lang="ro-RO" altLang="ro-RO" sz="2400" b="0" i="0" u="none" strike="noStrike" cap="none" normalizeH="0" baseline="0" dirty="0">
              <a:ln>
                <a:noFill/>
              </a:ln>
              <a:solidFill>
                <a:schemeClr val="tx1"/>
              </a:solidFill>
              <a:effectLst/>
              <a:latin typeface="Grandview Display (Corp)"/>
            </a:endParaRPr>
          </a:p>
          <a:p>
            <a:pPr marL="0" marR="0" lvl="0" indent="0" algn="l" defTabSz="914400" rtl="0" eaLnBrk="0" fontAlgn="base" latinLnBrk="0" hangingPunct="0">
              <a:lnSpc>
                <a:spcPct val="100000"/>
              </a:lnSpc>
              <a:spcBef>
                <a:spcPct val="0"/>
              </a:spcBef>
              <a:spcAft>
                <a:spcPct val="0"/>
              </a:spcAft>
              <a:buClrTx/>
              <a:buSzTx/>
              <a:tabLst/>
            </a:pPr>
            <a:r>
              <a:rPr kumimoji="0" lang="ro-RO" altLang="ro-RO" sz="2400" b="0" i="0" u="none" strike="noStrike" cap="none" normalizeH="0" baseline="0" dirty="0">
                <a:ln>
                  <a:noFill/>
                </a:ln>
                <a:solidFill>
                  <a:schemeClr val="tx1"/>
                </a:solidFill>
                <a:effectLst/>
                <a:latin typeface="Grandview Display (Corp)"/>
              </a:rPr>
              <a:t>Control automat (ventilator + muzică)</a:t>
            </a:r>
          </a:p>
          <a:p>
            <a:pPr marL="0" marR="0" lvl="0" indent="0" algn="l" defTabSz="914400" rtl="0" eaLnBrk="0" fontAlgn="base" latinLnBrk="0" hangingPunct="0">
              <a:lnSpc>
                <a:spcPct val="100000"/>
              </a:lnSpc>
              <a:spcBef>
                <a:spcPct val="0"/>
              </a:spcBef>
              <a:spcAft>
                <a:spcPct val="0"/>
              </a:spcAft>
              <a:buClrTx/>
              <a:buSzTx/>
              <a:tabLst/>
            </a:pPr>
            <a:r>
              <a:rPr kumimoji="0" lang="ro-RO" altLang="ro-RO" sz="2400" b="0" i="0" u="none" strike="noStrike" cap="none" normalizeH="0" baseline="0" dirty="0">
                <a:ln>
                  <a:noFill/>
                </a:ln>
                <a:solidFill>
                  <a:schemeClr val="tx1"/>
                </a:solidFill>
                <a:effectLst/>
                <a:latin typeface="Grandview Display (Corp)"/>
              </a:rPr>
              <a:t> </a:t>
            </a:r>
          </a:p>
          <a:p>
            <a:pPr marL="0" marR="0" lvl="0" indent="0" algn="l" defTabSz="914400" rtl="0" eaLnBrk="0" fontAlgn="base" latinLnBrk="0" hangingPunct="0">
              <a:lnSpc>
                <a:spcPct val="100000"/>
              </a:lnSpc>
              <a:spcBef>
                <a:spcPct val="0"/>
              </a:spcBef>
              <a:spcAft>
                <a:spcPct val="0"/>
              </a:spcAft>
              <a:buClrTx/>
              <a:buSzTx/>
              <a:tabLst/>
            </a:pPr>
            <a:r>
              <a:rPr kumimoji="0" lang="ro-RO" altLang="ro-RO" sz="2400" b="0" i="0" u="none" strike="noStrike" cap="none" normalizeH="0" baseline="0" dirty="0">
                <a:ln>
                  <a:noFill/>
                </a:ln>
                <a:solidFill>
                  <a:schemeClr val="tx1"/>
                </a:solidFill>
                <a:effectLst/>
                <a:latin typeface="Grandview Display (Corp)"/>
              </a:rPr>
              <a:t>Acces de la distanță </a:t>
            </a:r>
          </a:p>
        </p:txBody>
      </p:sp>
      <p:sp>
        <p:nvSpPr>
          <p:cNvPr id="7" name="Dreptunghi: colț îndoit 6">
            <a:extLst>
              <a:ext uri="{FF2B5EF4-FFF2-40B4-BE49-F238E27FC236}">
                <a16:creationId xmlns:a16="http://schemas.microsoft.com/office/drawing/2014/main" id="{C2BB1F37-7F87-0256-02ED-F0B5192314E8}"/>
              </a:ext>
            </a:extLst>
          </p:cNvPr>
          <p:cNvSpPr/>
          <p:nvPr/>
        </p:nvSpPr>
        <p:spPr>
          <a:xfrm>
            <a:off x="0" y="0"/>
            <a:ext cx="2143432" cy="1746802"/>
          </a:xfrm>
          <a:prstGeom prst="foldedCorner">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8" name="Dreptunghi: colț îndoit 7">
            <a:extLst>
              <a:ext uri="{FF2B5EF4-FFF2-40B4-BE49-F238E27FC236}">
                <a16:creationId xmlns:a16="http://schemas.microsoft.com/office/drawing/2014/main" id="{1E8FD43A-3C69-6BBC-5D96-D099DF3D8352}"/>
              </a:ext>
            </a:extLst>
          </p:cNvPr>
          <p:cNvSpPr/>
          <p:nvPr/>
        </p:nvSpPr>
        <p:spPr>
          <a:xfrm flipH="1" flipV="1">
            <a:off x="10048568" y="5111198"/>
            <a:ext cx="2143432" cy="1746802"/>
          </a:xfrm>
          <a:prstGeom prst="foldedCorner">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Tree>
    <p:extLst>
      <p:ext uri="{BB962C8B-B14F-4D97-AF65-F5344CB8AC3E}">
        <p14:creationId xmlns:p14="http://schemas.microsoft.com/office/powerpoint/2010/main" val="13551476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u 1">
            <a:extLst>
              <a:ext uri="{FF2B5EF4-FFF2-40B4-BE49-F238E27FC236}">
                <a16:creationId xmlns:a16="http://schemas.microsoft.com/office/drawing/2014/main" id="{E5B932AB-D5E7-A371-70CB-60436CC760C5}"/>
              </a:ext>
            </a:extLst>
          </p:cNvPr>
          <p:cNvSpPr>
            <a:spLocks noGrp="1"/>
          </p:cNvSpPr>
          <p:nvPr>
            <p:ph type="title"/>
          </p:nvPr>
        </p:nvSpPr>
        <p:spPr>
          <a:xfrm>
            <a:off x="660993" y="4895273"/>
            <a:ext cx="11029562" cy="1476533"/>
          </a:xfrm>
        </p:spPr>
        <p:txBody>
          <a:bodyPr anchor="ctr">
            <a:normAutofit/>
          </a:bodyPr>
          <a:lstStyle/>
          <a:p>
            <a:pPr algn="ctr"/>
            <a:r>
              <a:rPr lang="ro-RO" sz="3600" dirty="0"/>
              <a:t>Arhitectura sistemului</a:t>
            </a:r>
          </a:p>
        </p:txBody>
      </p:sp>
      <p:pic>
        <p:nvPicPr>
          <p:cNvPr id="5" name="Substituent conținut 4">
            <a:extLst>
              <a:ext uri="{FF2B5EF4-FFF2-40B4-BE49-F238E27FC236}">
                <a16:creationId xmlns:a16="http://schemas.microsoft.com/office/drawing/2014/main" id="{A94F2424-F51A-F57E-86B4-AAA761952FB8}"/>
              </a:ext>
            </a:extLst>
          </p:cNvPr>
          <p:cNvPicPr>
            <a:picLocks noChangeAspect="1"/>
          </p:cNvPicPr>
          <p:nvPr/>
        </p:nvPicPr>
        <p:blipFill>
          <a:blip r:embed="rId2"/>
          <a:srcRect l="1861" t="1" r="540" b="1"/>
          <a:stretch>
            <a:fillRect/>
          </a:stretch>
        </p:blipFill>
        <p:spPr>
          <a:xfrm>
            <a:off x="396515" y="369171"/>
            <a:ext cx="11398280" cy="3913229"/>
          </a:xfrm>
          <a:prstGeom prst="rect">
            <a:avLst/>
          </a:prstGeom>
        </p:spPr>
      </p:pic>
      <p:cxnSp>
        <p:nvCxnSpPr>
          <p:cNvPr id="14" name="Straight Connector 1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660992" y="4651571"/>
            <a:ext cx="10869326" cy="2"/>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6736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E732B596-B2EA-D02F-1385-407EFCADC480}"/>
              </a:ext>
            </a:extLst>
          </p:cNvPr>
          <p:cNvSpPr>
            <a:spLocks noGrp="1"/>
          </p:cNvSpPr>
          <p:nvPr>
            <p:ph type="title"/>
          </p:nvPr>
        </p:nvSpPr>
        <p:spPr/>
        <p:txBody>
          <a:bodyPr/>
          <a:lstStyle/>
          <a:p>
            <a:pPr algn="ctr"/>
            <a:r>
              <a:rPr lang="ro-RO" dirty="0"/>
              <a:t>Componentele sistemului</a:t>
            </a:r>
          </a:p>
        </p:txBody>
      </p:sp>
      <p:sp>
        <p:nvSpPr>
          <p:cNvPr id="3" name="Substituent text 2">
            <a:extLst>
              <a:ext uri="{FF2B5EF4-FFF2-40B4-BE49-F238E27FC236}">
                <a16:creationId xmlns:a16="http://schemas.microsoft.com/office/drawing/2014/main" id="{1A856A4F-311B-4CE7-BCB5-FCA3499B7630}"/>
              </a:ext>
            </a:extLst>
          </p:cNvPr>
          <p:cNvSpPr>
            <a:spLocks noGrp="1"/>
          </p:cNvSpPr>
          <p:nvPr>
            <p:ph type="body" idx="1"/>
          </p:nvPr>
        </p:nvSpPr>
        <p:spPr/>
        <p:txBody>
          <a:bodyPr/>
          <a:lstStyle/>
          <a:p>
            <a:pPr algn="ctr"/>
            <a:r>
              <a:rPr lang="ro-RO" dirty="0"/>
              <a:t>Componente hardware</a:t>
            </a:r>
          </a:p>
        </p:txBody>
      </p:sp>
      <p:sp>
        <p:nvSpPr>
          <p:cNvPr id="5" name="Substituent text 4">
            <a:extLst>
              <a:ext uri="{FF2B5EF4-FFF2-40B4-BE49-F238E27FC236}">
                <a16:creationId xmlns:a16="http://schemas.microsoft.com/office/drawing/2014/main" id="{432A7B26-C451-C025-0507-C01BDB67C401}"/>
              </a:ext>
            </a:extLst>
          </p:cNvPr>
          <p:cNvSpPr>
            <a:spLocks noGrp="1"/>
          </p:cNvSpPr>
          <p:nvPr>
            <p:ph type="body" sz="quarter" idx="3"/>
          </p:nvPr>
        </p:nvSpPr>
        <p:spPr/>
        <p:txBody>
          <a:bodyPr/>
          <a:lstStyle/>
          <a:p>
            <a:pPr algn="ctr"/>
            <a:r>
              <a:rPr lang="ro-RO" dirty="0"/>
              <a:t>Componente software</a:t>
            </a:r>
          </a:p>
        </p:txBody>
      </p:sp>
      <p:sp>
        <p:nvSpPr>
          <p:cNvPr id="7" name="Rectangle 1">
            <a:extLst>
              <a:ext uri="{FF2B5EF4-FFF2-40B4-BE49-F238E27FC236}">
                <a16:creationId xmlns:a16="http://schemas.microsoft.com/office/drawing/2014/main" id="{38F960CD-D78B-A709-74C9-447C1EC6DA0D}"/>
              </a:ext>
            </a:extLst>
          </p:cNvPr>
          <p:cNvSpPr>
            <a:spLocks noGrp="1" noChangeArrowheads="1"/>
          </p:cNvSpPr>
          <p:nvPr>
            <p:ph sz="half" idx="2"/>
          </p:nvPr>
        </p:nvSpPr>
        <p:spPr bwMode="auto">
          <a:xfrm>
            <a:off x="1829734" y="3336667"/>
            <a:ext cx="2400017"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endParaRPr kumimoji="0" lang="ro-RO" altLang="ro-RO" sz="1800" b="0" i="0" u="none" strike="noStrike" cap="none" normalizeH="0" baseline="0" dirty="0">
              <a:ln>
                <a:noFill/>
              </a:ln>
              <a:solidFill>
                <a:schemeClr val="tx1"/>
              </a:solidFill>
              <a:effectLst/>
              <a:latin typeface="Grandview Display (Corp)"/>
            </a:endParaRPr>
          </a:p>
          <a:p>
            <a:pPr marL="0" marR="0" lvl="0" indent="0" algn="ctr" defTabSz="914400" rtl="0" eaLnBrk="0" fontAlgn="base" latinLnBrk="0" hangingPunct="0">
              <a:lnSpc>
                <a:spcPct val="100000"/>
              </a:lnSpc>
              <a:spcBef>
                <a:spcPct val="0"/>
              </a:spcBef>
              <a:spcAft>
                <a:spcPct val="0"/>
              </a:spcAft>
              <a:buClrTx/>
              <a:buSzTx/>
              <a:buFontTx/>
              <a:buChar char="•"/>
              <a:tabLst/>
            </a:pPr>
            <a:r>
              <a:rPr kumimoji="0" lang="ro-RO" altLang="ro-RO" b="0" i="0" u="none" strike="noStrike" cap="none" normalizeH="0" baseline="0" dirty="0">
                <a:ln>
                  <a:noFill/>
                </a:ln>
                <a:solidFill>
                  <a:schemeClr val="tx1"/>
                </a:solidFill>
                <a:effectLst/>
                <a:latin typeface="Grandview Display (Corp)"/>
              </a:rPr>
              <a:t>ESP32 </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ro-RO" altLang="ro-RO" b="0" i="0" u="none" strike="noStrike" cap="none" normalizeH="0" baseline="0" dirty="0">
                <a:ln>
                  <a:noFill/>
                </a:ln>
                <a:solidFill>
                  <a:schemeClr val="tx1"/>
                </a:solidFill>
                <a:effectLst/>
                <a:latin typeface="Grandview Display (Corp)"/>
              </a:rPr>
              <a:t>DHT </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ro-RO" altLang="ro-RO" b="0" i="0" u="none" strike="noStrike" cap="none" normalizeH="0" baseline="0" dirty="0">
                <a:ln>
                  <a:noFill/>
                </a:ln>
                <a:solidFill>
                  <a:schemeClr val="tx1"/>
                </a:solidFill>
                <a:effectLst/>
                <a:latin typeface="Grandview Display (Corp)"/>
              </a:rPr>
              <a:t>MQ </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ro-RO" altLang="ro-RO" b="0" i="0" u="none" strike="noStrike" cap="none" normalizeH="0" baseline="0" dirty="0">
                <a:ln>
                  <a:noFill/>
                </a:ln>
                <a:solidFill>
                  <a:schemeClr val="tx1"/>
                </a:solidFill>
                <a:effectLst/>
                <a:latin typeface="Grandview Display (Corp)"/>
              </a:rPr>
              <a:t>microfon </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ro-RO" altLang="ro-RO" b="0" i="0" u="none" strike="noStrike" cap="none" normalizeH="0" baseline="0" dirty="0" err="1">
                <a:ln>
                  <a:noFill/>
                </a:ln>
                <a:solidFill>
                  <a:schemeClr val="tx1"/>
                </a:solidFill>
                <a:effectLst/>
                <a:latin typeface="Grandview Display (Corp)"/>
              </a:rPr>
              <a:t>DFPlayer</a:t>
            </a:r>
            <a:r>
              <a:rPr kumimoji="0" lang="ro-RO" altLang="ro-RO" b="0" i="0" u="none" strike="noStrike" cap="none" normalizeH="0" baseline="0" dirty="0">
                <a:ln>
                  <a:noFill/>
                </a:ln>
                <a:solidFill>
                  <a:schemeClr val="tx1"/>
                </a:solidFill>
                <a:effectLst/>
                <a:latin typeface="Grandview Display (Corp)"/>
              </a:rPr>
              <a:t> + difuzor </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ro-RO" altLang="ro-RO" b="0" i="0" u="none" strike="noStrike" cap="none" normalizeH="0" baseline="0" dirty="0">
                <a:ln>
                  <a:noFill/>
                </a:ln>
                <a:solidFill>
                  <a:schemeClr val="tx1"/>
                </a:solidFill>
                <a:effectLst/>
                <a:latin typeface="Grandview Display (Corp)"/>
              </a:rPr>
              <a:t>ventilator </a:t>
            </a:r>
          </a:p>
        </p:txBody>
      </p:sp>
      <p:sp>
        <p:nvSpPr>
          <p:cNvPr id="8" name="Rectangle 2">
            <a:extLst>
              <a:ext uri="{FF2B5EF4-FFF2-40B4-BE49-F238E27FC236}">
                <a16:creationId xmlns:a16="http://schemas.microsoft.com/office/drawing/2014/main" id="{FA217D89-F3CC-3550-EC0C-AAA9A326DEF9}"/>
              </a:ext>
            </a:extLst>
          </p:cNvPr>
          <p:cNvSpPr>
            <a:spLocks noGrp="1" noChangeArrowheads="1"/>
          </p:cNvSpPr>
          <p:nvPr>
            <p:ph sz="quarter" idx="4"/>
          </p:nvPr>
        </p:nvSpPr>
        <p:spPr bwMode="auto">
          <a:xfrm>
            <a:off x="7688892" y="3644443"/>
            <a:ext cx="2720617" cy="1600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o-RO" altLang="ro-RO" sz="1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Char char="•"/>
              <a:tabLst/>
            </a:pPr>
            <a:r>
              <a:rPr kumimoji="0" lang="ro-RO" altLang="ro-RO" b="0" i="0" u="none" strike="noStrike" cap="none" normalizeH="0" baseline="0" dirty="0" err="1">
                <a:ln>
                  <a:noFill/>
                </a:ln>
                <a:solidFill>
                  <a:schemeClr val="tx1"/>
                </a:solidFill>
                <a:effectLst/>
                <a:latin typeface="Grandview Display (Corp)"/>
              </a:rPr>
              <a:t>Arduino</a:t>
            </a:r>
            <a:r>
              <a:rPr kumimoji="0" lang="ro-RO" altLang="ro-RO" b="0" i="0" u="none" strike="noStrike" cap="none" normalizeH="0" baseline="0" dirty="0">
                <a:ln>
                  <a:noFill/>
                </a:ln>
                <a:solidFill>
                  <a:schemeClr val="tx1"/>
                </a:solidFill>
                <a:effectLst/>
                <a:latin typeface="Grandview Display (Corp)"/>
              </a:rPr>
              <a:t> (</a:t>
            </a:r>
            <a:r>
              <a:rPr kumimoji="0" lang="ro-RO" altLang="ro-RO" b="0" i="0" u="none" strike="noStrike" cap="none" normalizeH="0" baseline="0" dirty="0" err="1">
                <a:ln>
                  <a:noFill/>
                </a:ln>
                <a:solidFill>
                  <a:schemeClr val="tx1"/>
                </a:solidFill>
                <a:effectLst/>
                <a:latin typeface="Grandview Display (Corp)"/>
              </a:rPr>
              <a:t>firmware</a:t>
            </a:r>
            <a:r>
              <a:rPr kumimoji="0" lang="ro-RO" altLang="ro-RO" b="0" i="0" u="none" strike="noStrike" cap="none" normalizeH="0" baseline="0" dirty="0">
                <a:ln>
                  <a:noFill/>
                </a:ln>
                <a:solidFill>
                  <a:schemeClr val="tx1"/>
                </a:solidFill>
                <a:effectLst/>
                <a:latin typeface="Grandview Display (Corp)"/>
              </a:rPr>
              <a:t>) </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ro-RO" altLang="ro-RO" b="0" i="0" u="none" strike="noStrike" cap="none" normalizeH="0" baseline="0" dirty="0">
                <a:ln>
                  <a:noFill/>
                </a:ln>
                <a:solidFill>
                  <a:schemeClr val="tx1"/>
                </a:solidFill>
                <a:effectLst/>
                <a:latin typeface="Grandview Display (Corp)"/>
              </a:rPr>
              <a:t>Node.js + Express </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ro-RO" altLang="ro-RO" b="0" i="0" u="none" strike="noStrike" cap="none" normalizeH="0" baseline="0" dirty="0" err="1">
                <a:ln>
                  <a:noFill/>
                </a:ln>
                <a:solidFill>
                  <a:schemeClr val="tx1"/>
                </a:solidFill>
                <a:effectLst/>
                <a:latin typeface="Grandview Display (Corp)"/>
              </a:rPr>
              <a:t>PostgreSQL</a:t>
            </a:r>
            <a:r>
              <a:rPr kumimoji="0" lang="ro-RO" altLang="ro-RO" b="0" i="0" u="none" strike="noStrike" cap="none" normalizeH="0" baseline="0" dirty="0">
                <a:ln>
                  <a:noFill/>
                </a:ln>
                <a:solidFill>
                  <a:schemeClr val="tx1"/>
                </a:solidFill>
                <a:effectLst/>
                <a:latin typeface="Grandview Display (Corp)"/>
              </a:rPr>
              <a:t> (</a:t>
            </a:r>
            <a:r>
              <a:rPr kumimoji="0" lang="ro-RO" altLang="ro-RO" b="0" i="0" u="none" strike="noStrike" cap="none" normalizeH="0" baseline="0" dirty="0" err="1">
                <a:ln>
                  <a:noFill/>
                </a:ln>
                <a:solidFill>
                  <a:schemeClr val="tx1"/>
                </a:solidFill>
                <a:effectLst/>
                <a:latin typeface="Grandview Display (Corp)"/>
              </a:rPr>
              <a:t>Render</a:t>
            </a:r>
            <a:r>
              <a:rPr kumimoji="0" lang="ro-RO" altLang="ro-RO" b="0" i="0" u="none" strike="noStrike" cap="none" normalizeH="0" baseline="0" dirty="0">
                <a:ln>
                  <a:noFill/>
                </a:ln>
                <a:solidFill>
                  <a:schemeClr val="tx1"/>
                </a:solidFill>
                <a:effectLst/>
                <a:latin typeface="Grandview Display (Corp)"/>
              </a:rPr>
              <a:t>) </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ro-RO" altLang="ro-RO" b="0" i="0" u="none" strike="noStrike" cap="none" normalizeH="0" baseline="0" dirty="0">
                <a:ln>
                  <a:noFill/>
                </a:ln>
                <a:solidFill>
                  <a:schemeClr val="tx1"/>
                </a:solidFill>
                <a:effectLst/>
                <a:latin typeface="Grandview Display (Corp)"/>
              </a:rPr>
              <a:t>Web (HTML/CSS/JS) </a:t>
            </a:r>
          </a:p>
        </p:txBody>
      </p:sp>
      <p:sp>
        <p:nvSpPr>
          <p:cNvPr id="9" name="Schemă logică: întârziere 8">
            <a:extLst>
              <a:ext uri="{FF2B5EF4-FFF2-40B4-BE49-F238E27FC236}">
                <a16:creationId xmlns:a16="http://schemas.microsoft.com/office/drawing/2014/main" id="{51E5E690-C6E4-8299-245F-8B6C851D3A7B}"/>
              </a:ext>
            </a:extLst>
          </p:cNvPr>
          <p:cNvSpPr/>
          <p:nvPr/>
        </p:nvSpPr>
        <p:spPr>
          <a:xfrm>
            <a:off x="-1" y="0"/>
            <a:ext cx="2084439" cy="1391266"/>
          </a:xfrm>
          <a:prstGeom prst="flowChartDelay">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Tree>
    <p:extLst>
      <p:ext uri="{BB962C8B-B14F-4D97-AF65-F5344CB8AC3E}">
        <p14:creationId xmlns:p14="http://schemas.microsoft.com/office/powerpoint/2010/main" val="8524154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D09B7D71-F534-61B7-9DAE-3193949D0FA1}"/>
              </a:ext>
            </a:extLst>
          </p:cNvPr>
          <p:cNvSpPr>
            <a:spLocks noGrp="1"/>
          </p:cNvSpPr>
          <p:nvPr>
            <p:ph type="title"/>
          </p:nvPr>
        </p:nvSpPr>
        <p:spPr/>
        <p:txBody>
          <a:bodyPr/>
          <a:lstStyle/>
          <a:p>
            <a:pPr algn="ctr"/>
            <a:r>
              <a:rPr lang="ro-RO" dirty="0"/>
              <a:t>Reglarea automată</a:t>
            </a:r>
          </a:p>
        </p:txBody>
      </p:sp>
      <p:sp>
        <p:nvSpPr>
          <p:cNvPr id="3" name="Substituent conținut 2">
            <a:extLst>
              <a:ext uri="{FF2B5EF4-FFF2-40B4-BE49-F238E27FC236}">
                <a16:creationId xmlns:a16="http://schemas.microsoft.com/office/drawing/2014/main" id="{9D75B014-0E8A-B78A-A24A-9F7AFBDAEBC9}"/>
              </a:ext>
            </a:extLst>
          </p:cNvPr>
          <p:cNvSpPr>
            <a:spLocks noGrp="1"/>
          </p:cNvSpPr>
          <p:nvPr>
            <p:ph idx="1"/>
          </p:nvPr>
        </p:nvSpPr>
        <p:spPr>
          <a:xfrm>
            <a:off x="492080" y="2606040"/>
            <a:ext cx="11344319" cy="3566160"/>
          </a:xfrm>
        </p:spPr>
        <p:txBody>
          <a:bodyPr/>
          <a:lstStyle/>
          <a:p>
            <a:pPr marL="0" indent="0">
              <a:buNone/>
            </a:pPr>
            <a:r>
              <a:rPr lang="ro-RO" dirty="0"/>
              <a:t>	Reglarea automată a sistemului se bazează pe un algoritm de tip fuzzy, care permite luarea unor decizii mai flexibile comparativ cu pragurile clasice.</a:t>
            </a:r>
          </a:p>
          <a:p>
            <a:pPr marL="0" indent="0">
              <a:buNone/>
            </a:pPr>
            <a:endParaRPr lang="ro-RO" dirty="0"/>
          </a:p>
          <a:p>
            <a:pPr marL="0" indent="0">
              <a:buNone/>
            </a:pPr>
            <a:r>
              <a:rPr lang="ro-RO" dirty="0"/>
              <a:t>	Ventilatorul nu pornește doar ON/OFF, ci poate fi ajustat gradual în funcție de temperatură sau nivelul gazelor.</a:t>
            </a:r>
          </a:p>
          <a:p>
            <a:pPr marL="0" indent="0">
              <a:buNone/>
            </a:pPr>
            <a:r>
              <a:rPr lang="ro-RO" dirty="0"/>
              <a:t>	Volumul muzicii este modificat progresiv în funcție de nivelul de zgomot din încăpere/</a:t>
            </a:r>
          </a:p>
          <a:p>
            <a:pPr marL="0" indent="0">
              <a:buNone/>
            </a:pPr>
            <a:endParaRPr lang="ro-RO" dirty="0"/>
          </a:p>
        </p:txBody>
      </p:sp>
      <p:sp>
        <p:nvSpPr>
          <p:cNvPr id="6" name="Săgeată: dreapta 5">
            <a:extLst>
              <a:ext uri="{FF2B5EF4-FFF2-40B4-BE49-F238E27FC236}">
                <a16:creationId xmlns:a16="http://schemas.microsoft.com/office/drawing/2014/main" id="{5E831EE3-242F-AA8F-0839-F98F1373F54C}"/>
              </a:ext>
            </a:extLst>
          </p:cNvPr>
          <p:cNvSpPr/>
          <p:nvPr/>
        </p:nvSpPr>
        <p:spPr>
          <a:xfrm>
            <a:off x="1000081" y="4067810"/>
            <a:ext cx="337821" cy="287020"/>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solidFill>
                <a:schemeClr val="accent5"/>
              </a:solidFill>
            </a:endParaRPr>
          </a:p>
        </p:txBody>
      </p:sp>
      <p:sp>
        <p:nvSpPr>
          <p:cNvPr id="7" name="Săgeată: dreapta 6">
            <a:extLst>
              <a:ext uri="{FF2B5EF4-FFF2-40B4-BE49-F238E27FC236}">
                <a16:creationId xmlns:a16="http://schemas.microsoft.com/office/drawing/2014/main" id="{51FBC4BD-9588-17F7-159B-CD517761612A}"/>
              </a:ext>
            </a:extLst>
          </p:cNvPr>
          <p:cNvSpPr/>
          <p:nvPr/>
        </p:nvSpPr>
        <p:spPr>
          <a:xfrm>
            <a:off x="1000081" y="4905756"/>
            <a:ext cx="337821" cy="287020"/>
          </a:xfrm>
          <a:prstGeom prst="rightArrow">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solidFill>
                <a:schemeClr val="accent5"/>
              </a:solidFill>
            </a:endParaRPr>
          </a:p>
        </p:txBody>
      </p:sp>
    </p:spTree>
    <p:extLst>
      <p:ext uri="{BB962C8B-B14F-4D97-AF65-F5344CB8AC3E}">
        <p14:creationId xmlns:p14="http://schemas.microsoft.com/office/powerpoint/2010/main" val="3096263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Explicație: săgeată în sus 8">
            <a:extLst>
              <a:ext uri="{FF2B5EF4-FFF2-40B4-BE49-F238E27FC236}">
                <a16:creationId xmlns:a16="http://schemas.microsoft.com/office/drawing/2014/main" id="{B6BAE588-9FD3-06FF-87D7-A3492E344F07}"/>
              </a:ext>
            </a:extLst>
          </p:cNvPr>
          <p:cNvSpPr/>
          <p:nvPr/>
        </p:nvSpPr>
        <p:spPr>
          <a:xfrm rot="5400000" flipH="1" flipV="1">
            <a:off x="10289733" y="4955732"/>
            <a:ext cx="2104106" cy="1700429"/>
          </a:xfrm>
          <a:prstGeom prst="upArrowCallou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2" name="Titlu 1">
            <a:extLst>
              <a:ext uri="{FF2B5EF4-FFF2-40B4-BE49-F238E27FC236}">
                <a16:creationId xmlns:a16="http://schemas.microsoft.com/office/drawing/2014/main" id="{88A9F2F5-042F-F92A-567D-DC0B01589244}"/>
              </a:ext>
            </a:extLst>
          </p:cNvPr>
          <p:cNvSpPr>
            <a:spLocks noGrp="1"/>
          </p:cNvSpPr>
          <p:nvPr>
            <p:ph type="title"/>
          </p:nvPr>
        </p:nvSpPr>
        <p:spPr>
          <a:xfrm>
            <a:off x="198982" y="1332271"/>
            <a:ext cx="5023301" cy="1451723"/>
          </a:xfrm>
        </p:spPr>
        <p:txBody>
          <a:bodyPr/>
          <a:lstStyle/>
          <a:p>
            <a:pPr algn="ctr"/>
            <a:r>
              <a:rPr lang="ro-RO" dirty="0"/>
              <a:t>Funcționalități principale</a:t>
            </a:r>
          </a:p>
        </p:txBody>
      </p:sp>
      <p:pic>
        <p:nvPicPr>
          <p:cNvPr id="7" name="Substituent imagine 6">
            <a:extLst>
              <a:ext uri="{FF2B5EF4-FFF2-40B4-BE49-F238E27FC236}">
                <a16:creationId xmlns:a16="http://schemas.microsoft.com/office/drawing/2014/main" id="{E0C58038-DA69-848F-979D-66A3993454AB}"/>
              </a:ext>
            </a:extLst>
          </p:cNvPr>
          <p:cNvPicPr>
            <a:picLocks noGrp="1" noChangeAspect="1"/>
          </p:cNvPicPr>
          <p:nvPr>
            <p:ph type="pic" idx="1"/>
          </p:nvPr>
        </p:nvPicPr>
        <p:blipFill>
          <a:blip r:embed="rId2"/>
          <a:srcRect l="16500" r="16500"/>
          <a:stretch/>
        </p:blipFill>
        <p:spPr>
          <a:xfrm>
            <a:off x="5338763" y="1033463"/>
            <a:ext cx="6191250" cy="5165725"/>
          </a:xfrm>
          <a:prstGeom prst="rect">
            <a:avLst/>
          </a:prstGeom>
        </p:spPr>
      </p:pic>
      <p:sp>
        <p:nvSpPr>
          <p:cNvPr id="5" name="Rectangle 1">
            <a:extLst>
              <a:ext uri="{FF2B5EF4-FFF2-40B4-BE49-F238E27FC236}">
                <a16:creationId xmlns:a16="http://schemas.microsoft.com/office/drawing/2014/main" id="{4DC41082-4111-A2EC-69E1-631A7C18BABD}"/>
              </a:ext>
            </a:extLst>
          </p:cNvPr>
          <p:cNvSpPr>
            <a:spLocks noGrp="1" noChangeArrowheads="1"/>
          </p:cNvSpPr>
          <p:nvPr>
            <p:ph type="body" sz="half" idx="2"/>
          </p:nvPr>
        </p:nvSpPr>
        <p:spPr bwMode="auto">
          <a:xfrm>
            <a:off x="82349" y="3296014"/>
            <a:ext cx="5256567"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o-RO" altLang="ro-RO" sz="1800" b="0" i="0" u="none" strike="noStrike" cap="none" normalizeH="0" baseline="0" dirty="0">
              <a:ln>
                <a:noFill/>
              </a:ln>
              <a:solidFill>
                <a:schemeClr val="tx1"/>
              </a:solidFill>
              <a:effectLst/>
              <a:latin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Char char="•"/>
              <a:tabLst/>
            </a:pPr>
            <a:r>
              <a:rPr kumimoji="0" lang="ro-RO" altLang="ro-RO" sz="1800" b="0" i="0" u="none" strike="noStrike" cap="none" normalizeH="0" baseline="0" dirty="0">
                <a:ln>
                  <a:noFill/>
                </a:ln>
                <a:solidFill>
                  <a:schemeClr val="tx1"/>
                </a:solidFill>
                <a:effectLst/>
                <a:latin typeface="Grandview Display (Corp)"/>
              </a:rPr>
              <a:t>Monitorizare temperatură, umiditate, gaz, zgomot </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ro-RO" altLang="ro-RO" sz="1800" b="0" i="0" u="none" strike="noStrike" cap="none" normalizeH="0" baseline="0" dirty="0">
                <a:ln>
                  <a:noFill/>
                </a:ln>
                <a:solidFill>
                  <a:schemeClr val="tx1"/>
                </a:solidFill>
                <a:effectLst/>
                <a:latin typeface="Grandview Display (Corp)"/>
              </a:rPr>
              <a:t>Control automat </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ro-RO" altLang="ro-RO" sz="1800" b="0" i="0" u="none" strike="noStrike" cap="none" normalizeH="0" baseline="0" dirty="0">
                <a:ln>
                  <a:noFill/>
                </a:ln>
                <a:solidFill>
                  <a:schemeClr val="tx1"/>
                </a:solidFill>
                <a:effectLst/>
                <a:latin typeface="Grandview Display (Corp)"/>
              </a:rPr>
              <a:t>Control manual din web </a:t>
            </a:r>
          </a:p>
          <a:p>
            <a:pPr marL="0" marR="0" lvl="0" indent="0" algn="ctr" defTabSz="914400" rtl="0" eaLnBrk="0" fontAlgn="base" latinLnBrk="0" hangingPunct="0">
              <a:lnSpc>
                <a:spcPct val="100000"/>
              </a:lnSpc>
              <a:spcBef>
                <a:spcPct val="0"/>
              </a:spcBef>
              <a:spcAft>
                <a:spcPct val="0"/>
              </a:spcAft>
              <a:buClrTx/>
              <a:buSzTx/>
              <a:buFontTx/>
              <a:buChar char="•"/>
              <a:tabLst/>
            </a:pPr>
            <a:r>
              <a:rPr kumimoji="0" lang="ro-RO" altLang="ro-RO" sz="1800" b="0" i="0" u="none" strike="noStrike" cap="none" normalizeH="0" baseline="0" dirty="0">
                <a:ln>
                  <a:noFill/>
                </a:ln>
                <a:solidFill>
                  <a:schemeClr val="tx1"/>
                </a:solidFill>
                <a:effectLst/>
                <a:latin typeface="Grandview Display (Corp)"/>
              </a:rPr>
              <a:t>Stocare date </a:t>
            </a:r>
          </a:p>
        </p:txBody>
      </p:sp>
    </p:spTree>
    <p:extLst>
      <p:ext uri="{BB962C8B-B14F-4D97-AF65-F5344CB8AC3E}">
        <p14:creationId xmlns:p14="http://schemas.microsoft.com/office/powerpoint/2010/main" val="3792661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Nor 11">
            <a:extLst>
              <a:ext uri="{FF2B5EF4-FFF2-40B4-BE49-F238E27FC236}">
                <a16:creationId xmlns:a16="http://schemas.microsoft.com/office/drawing/2014/main" id="{82E752C1-9AB8-F3FD-C6EB-8745EC3DAF93}"/>
              </a:ext>
            </a:extLst>
          </p:cNvPr>
          <p:cNvSpPr/>
          <p:nvPr/>
        </p:nvSpPr>
        <p:spPr>
          <a:xfrm>
            <a:off x="314632" y="265471"/>
            <a:ext cx="3581214" cy="2664542"/>
          </a:xfrm>
          <a:prstGeom prst="cloud">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2" name="Titlu 1">
            <a:extLst>
              <a:ext uri="{FF2B5EF4-FFF2-40B4-BE49-F238E27FC236}">
                <a16:creationId xmlns:a16="http://schemas.microsoft.com/office/drawing/2014/main" id="{F63A6540-0F72-67F9-230E-083F70E45354}"/>
              </a:ext>
            </a:extLst>
          </p:cNvPr>
          <p:cNvSpPr>
            <a:spLocks noGrp="1"/>
          </p:cNvSpPr>
          <p:nvPr>
            <p:ph type="title"/>
          </p:nvPr>
        </p:nvSpPr>
        <p:spPr>
          <a:xfrm>
            <a:off x="561612" y="1136610"/>
            <a:ext cx="10890929" cy="1097280"/>
          </a:xfrm>
        </p:spPr>
        <p:txBody>
          <a:bodyPr/>
          <a:lstStyle/>
          <a:p>
            <a:r>
              <a:rPr lang="ro-RO" dirty="0"/>
              <a:t>Interfața web</a:t>
            </a:r>
          </a:p>
        </p:txBody>
      </p:sp>
      <p:pic>
        <p:nvPicPr>
          <p:cNvPr id="6" name="Substituent conținut 5">
            <a:extLst>
              <a:ext uri="{FF2B5EF4-FFF2-40B4-BE49-F238E27FC236}">
                <a16:creationId xmlns:a16="http://schemas.microsoft.com/office/drawing/2014/main" id="{B350DAE9-3543-A3A5-BC61-15CC047DC3F7}"/>
              </a:ext>
            </a:extLst>
          </p:cNvPr>
          <p:cNvPicPr>
            <a:picLocks noGrp="1" noChangeAspect="1"/>
          </p:cNvPicPr>
          <p:nvPr>
            <p:ph sz="half" idx="1"/>
          </p:nvPr>
        </p:nvPicPr>
        <p:blipFill>
          <a:blip r:embed="rId3"/>
          <a:stretch>
            <a:fillRect/>
          </a:stretch>
        </p:blipFill>
        <p:spPr>
          <a:xfrm>
            <a:off x="443692" y="3264419"/>
            <a:ext cx="5563385" cy="2757939"/>
          </a:xfrm>
          <a:prstGeom prst="rect">
            <a:avLst/>
          </a:prstGeom>
        </p:spPr>
      </p:pic>
      <p:pic>
        <p:nvPicPr>
          <p:cNvPr id="8" name="Substituent conținut 7">
            <a:extLst>
              <a:ext uri="{FF2B5EF4-FFF2-40B4-BE49-F238E27FC236}">
                <a16:creationId xmlns:a16="http://schemas.microsoft.com/office/drawing/2014/main" id="{D9680CE9-B006-5545-9757-C777D0CA5221}"/>
              </a:ext>
            </a:extLst>
          </p:cNvPr>
          <p:cNvPicPr>
            <a:picLocks noGrp="1" noChangeAspect="1"/>
          </p:cNvPicPr>
          <p:nvPr>
            <p:ph sz="half" idx="2"/>
          </p:nvPr>
        </p:nvPicPr>
        <p:blipFill>
          <a:blip r:embed="rId4"/>
          <a:stretch>
            <a:fillRect/>
          </a:stretch>
        </p:blipFill>
        <p:spPr>
          <a:xfrm>
            <a:off x="6318250" y="3565388"/>
            <a:ext cx="5563384" cy="2456970"/>
          </a:xfrm>
          <a:prstGeom prst="rect">
            <a:avLst/>
          </a:prstGeom>
        </p:spPr>
      </p:pic>
      <p:pic>
        <p:nvPicPr>
          <p:cNvPr id="10" name="Imagine 9">
            <a:extLst>
              <a:ext uri="{FF2B5EF4-FFF2-40B4-BE49-F238E27FC236}">
                <a16:creationId xmlns:a16="http://schemas.microsoft.com/office/drawing/2014/main" id="{60E3DBC6-E398-6874-C0EE-1A95983C592F}"/>
              </a:ext>
            </a:extLst>
          </p:cNvPr>
          <p:cNvPicPr>
            <a:picLocks noChangeAspect="1"/>
          </p:cNvPicPr>
          <p:nvPr/>
        </p:nvPicPr>
        <p:blipFill>
          <a:blip r:embed="rId5"/>
          <a:stretch>
            <a:fillRect/>
          </a:stretch>
        </p:blipFill>
        <p:spPr>
          <a:xfrm>
            <a:off x="4837471" y="506481"/>
            <a:ext cx="6480322" cy="2692142"/>
          </a:xfrm>
          <a:prstGeom prst="rect">
            <a:avLst/>
          </a:prstGeom>
        </p:spPr>
      </p:pic>
    </p:spTree>
    <p:extLst>
      <p:ext uri="{BB962C8B-B14F-4D97-AF65-F5344CB8AC3E}">
        <p14:creationId xmlns:p14="http://schemas.microsoft.com/office/powerpoint/2010/main" val="15665023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98CCADA9-D5C0-BEFB-6801-14D2477EC12E}"/>
              </a:ext>
            </a:extLst>
          </p:cNvPr>
          <p:cNvSpPr>
            <a:spLocks noGrp="1"/>
          </p:cNvSpPr>
          <p:nvPr>
            <p:ph type="title"/>
          </p:nvPr>
        </p:nvSpPr>
        <p:spPr>
          <a:xfrm>
            <a:off x="513242" y="447368"/>
            <a:ext cx="10890929" cy="653254"/>
          </a:xfrm>
        </p:spPr>
        <p:txBody>
          <a:bodyPr>
            <a:normAutofit fontScale="90000"/>
          </a:bodyPr>
          <a:lstStyle/>
          <a:p>
            <a:pPr algn="ctr"/>
            <a:r>
              <a:rPr lang="ro-RO" dirty="0"/>
              <a:t>Demonstrare</a:t>
            </a:r>
          </a:p>
        </p:txBody>
      </p:sp>
      <p:sp>
        <p:nvSpPr>
          <p:cNvPr id="3" name="Substituent conținut 2">
            <a:extLst>
              <a:ext uri="{FF2B5EF4-FFF2-40B4-BE49-F238E27FC236}">
                <a16:creationId xmlns:a16="http://schemas.microsoft.com/office/drawing/2014/main" id="{34686051-5ACE-0B69-2CE5-0F070DFFB0BA}"/>
              </a:ext>
            </a:extLst>
          </p:cNvPr>
          <p:cNvSpPr>
            <a:spLocks noGrp="1"/>
          </p:cNvSpPr>
          <p:nvPr>
            <p:ph sz="half" idx="1"/>
          </p:nvPr>
        </p:nvSpPr>
        <p:spPr>
          <a:xfrm>
            <a:off x="660992" y="1340726"/>
            <a:ext cx="10870016" cy="444025"/>
          </a:xfrm>
        </p:spPr>
        <p:txBody>
          <a:bodyPr>
            <a:normAutofit/>
          </a:bodyPr>
          <a:lstStyle/>
          <a:p>
            <a:pPr marL="0" indent="0">
              <a:buNone/>
            </a:pPr>
            <a:r>
              <a:rPr lang="ro-RO" dirty="0"/>
              <a:t>Fluxul datelor este: senzori → ESP32 → server → bază de date → interfață web → utilizator</a:t>
            </a:r>
          </a:p>
        </p:txBody>
      </p:sp>
      <p:sp>
        <p:nvSpPr>
          <p:cNvPr id="4" name="Substituent conținut 3">
            <a:extLst>
              <a:ext uri="{FF2B5EF4-FFF2-40B4-BE49-F238E27FC236}">
                <a16:creationId xmlns:a16="http://schemas.microsoft.com/office/drawing/2014/main" id="{87C3A8BE-6C1B-FEBC-BECA-9B48815AB0ED}"/>
              </a:ext>
            </a:extLst>
          </p:cNvPr>
          <p:cNvSpPr>
            <a:spLocks noGrp="1"/>
          </p:cNvSpPr>
          <p:nvPr>
            <p:ph sz="half" idx="2"/>
          </p:nvPr>
        </p:nvSpPr>
        <p:spPr>
          <a:xfrm>
            <a:off x="713954" y="1951408"/>
            <a:ext cx="10764092" cy="529958"/>
          </a:xfrm>
        </p:spPr>
        <p:txBody>
          <a:bodyPr>
            <a:normAutofit/>
          </a:bodyPr>
          <a:lstStyle/>
          <a:p>
            <a:pPr marL="0" indent="0">
              <a:buNone/>
            </a:pPr>
            <a:r>
              <a:rPr lang="ro-RO" dirty="0"/>
              <a:t>Control: utilizator → interfață web → server → ESP32 → </a:t>
            </a:r>
            <a:r>
              <a:rPr lang="ro-RO" dirty="0" err="1"/>
              <a:t>actuatori</a:t>
            </a:r>
            <a:r>
              <a:rPr lang="ro-RO" dirty="0"/>
              <a:t>.</a:t>
            </a:r>
          </a:p>
        </p:txBody>
      </p:sp>
      <p:pic>
        <p:nvPicPr>
          <p:cNvPr id="6" name="Imagine 5">
            <a:extLst>
              <a:ext uri="{FF2B5EF4-FFF2-40B4-BE49-F238E27FC236}">
                <a16:creationId xmlns:a16="http://schemas.microsoft.com/office/drawing/2014/main" id="{9B8CA670-D3BA-7EB3-ADCA-9228B152A11A}"/>
              </a:ext>
            </a:extLst>
          </p:cNvPr>
          <p:cNvPicPr>
            <a:picLocks noChangeAspect="1"/>
          </p:cNvPicPr>
          <p:nvPr/>
        </p:nvPicPr>
        <p:blipFill>
          <a:blip r:embed="rId3"/>
          <a:stretch>
            <a:fillRect/>
          </a:stretch>
        </p:blipFill>
        <p:spPr>
          <a:xfrm>
            <a:off x="3559277" y="2481366"/>
            <a:ext cx="5574891" cy="4099324"/>
          </a:xfrm>
          <a:prstGeom prst="rect">
            <a:avLst/>
          </a:prstGeom>
        </p:spPr>
      </p:pic>
    </p:spTree>
    <p:extLst>
      <p:ext uri="{BB962C8B-B14F-4D97-AF65-F5344CB8AC3E}">
        <p14:creationId xmlns:p14="http://schemas.microsoft.com/office/powerpoint/2010/main" val="38012352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2" name="Straight Connector 11">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u 1">
            <a:extLst>
              <a:ext uri="{FF2B5EF4-FFF2-40B4-BE49-F238E27FC236}">
                <a16:creationId xmlns:a16="http://schemas.microsoft.com/office/drawing/2014/main" id="{789DB15B-45E9-66AE-6EAA-FAF92708D2D7}"/>
              </a:ext>
            </a:extLst>
          </p:cNvPr>
          <p:cNvSpPr>
            <a:spLocks noGrp="1"/>
          </p:cNvSpPr>
          <p:nvPr>
            <p:ph type="title"/>
          </p:nvPr>
        </p:nvSpPr>
        <p:spPr>
          <a:xfrm>
            <a:off x="8159932" y="1186382"/>
            <a:ext cx="3324820" cy="752950"/>
          </a:xfrm>
        </p:spPr>
        <p:txBody>
          <a:bodyPr vert="horz" lIns="91440" tIns="45720" rIns="91440" bIns="45720" rtlCol="0" anchor="b">
            <a:normAutofit fontScale="90000"/>
          </a:bodyPr>
          <a:lstStyle/>
          <a:p>
            <a:r>
              <a:rPr lang="en-US" sz="4400" dirty="0" err="1"/>
              <a:t>Avantaje</a:t>
            </a:r>
            <a:endParaRPr lang="en-US" sz="4400" dirty="0"/>
          </a:p>
        </p:txBody>
      </p:sp>
      <p:sp>
        <p:nvSpPr>
          <p:cNvPr id="5" name="Rectangle 2">
            <a:extLst>
              <a:ext uri="{FF2B5EF4-FFF2-40B4-BE49-F238E27FC236}">
                <a16:creationId xmlns:a16="http://schemas.microsoft.com/office/drawing/2014/main" id="{35908724-95DD-2178-C54F-A33AD56D04B7}"/>
              </a:ext>
            </a:extLst>
          </p:cNvPr>
          <p:cNvSpPr>
            <a:spLocks noGrp="1" noChangeArrowheads="1"/>
          </p:cNvSpPr>
          <p:nvPr>
            <p:ph type="body" idx="1"/>
          </p:nvPr>
        </p:nvSpPr>
        <p:spPr bwMode="auto">
          <a:xfrm>
            <a:off x="8159931" y="2331218"/>
            <a:ext cx="3324821" cy="3088485"/>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fontScale="92500" lnSpcReduction="10000"/>
          </a:bodyPr>
          <a:lstStyle/>
          <a:p>
            <a:pPr marR="0" lvl="0" fontAlgn="base">
              <a:spcAft>
                <a:spcPct val="0"/>
              </a:spcAft>
              <a:buClrTx/>
              <a:tabLst/>
            </a:pPr>
            <a:endParaRPr kumimoji="0" lang="en-US" altLang="ro-RO" sz="700" b="1" i="0" u="none" strike="noStrike" cap="all" spc="300" normalizeH="0" dirty="0">
              <a:ln>
                <a:noFill/>
              </a:ln>
              <a:effectLst/>
            </a:endParaRPr>
          </a:p>
          <a:p>
            <a:pPr marR="0" lvl="0" fontAlgn="base">
              <a:spcAft>
                <a:spcPct val="0"/>
              </a:spcAft>
              <a:buClrTx/>
              <a:tabLst/>
            </a:pPr>
            <a:r>
              <a:rPr kumimoji="0" lang="en-US" altLang="ro-RO" sz="1800" b="1" i="0" u="none" strike="noStrike" cap="all" spc="300" normalizeH="0" dirty="0">
                <a:ln>
                  <a:noFill/>
                </a:ln>
                <a:effectLst/>
              </a:rPr>
              <a:t>cost </a:t>
            </a:r>
            <a:r>
              <a:rPr kumimoji="0" lang="en-US" altLang="ro-RO" sz="1800" b="1" i="0" u="none" strike="noStrike" cap="all" spc="300" normalizeH="0" dirty="0" err="1">
                <a:ln>
                  <a:noFill/>
                </a:ln>
                <a:effectLst/>
              </a:rPr>
              <a:t>redus</a:t>
            </a:r>
            <a:r>
              <a:rPr kumimoji="0" lang="en-US" altLang="ro-RO" sz="1800" b="1" i="0" u="none" strike="noStrike" cap="all" spc="300" normalizeH="0" dirty="0">
                <a:ln>
                  <a:noFill/>
                </a:ln>
                <a:effectLst/>
              </a:rPr>
              <a:t> </a:t>
            </a:r>
            <a:endParaRPr kumimoji="0" lang="ro-RO" altLang="ro-RO" sz="1800" b="1" i="0" u="none" strike="noStrike" cap="all" spc="300" normalizeH="0" dirty="0">
              <a:ln>
                <a:noFill/>
              </a:ln>
              <a:effectLst/>
            </a:endParaRPr>
          </a:p>
          <a:p>
            <a:pPr marR="0" lvl="0" fontAlgn="base">
              <a:spcAft>
                <a:spcPct val="0"/>
              </a:spcAft>
              <a:buClrTx/>
              <a:tabLst/>
            </a:pPr>
            <a:endParaRPr kumimoji="0" lang="en-US" altLang="ro-RO" sz="1800" b="1" i="0" u="none" strike="noStrike" cap="all" spc="300" normalizeH="0" dirty="0">
              <a:ln>
                <a:noFill/>
              </a:ln>
              <a:effectLst/>
            </a:endParaRPr>
          </a:p>
          <a:p>
            <a:pPr marR="0" lvl="0" fontAlgn="base">
              <a:spcAft>
                <a:spcPct val="0"/>
              </a:spcAft>
              <a:buClrTx/>
              <a:tabLst/>
            </a:pPr>
            <a:r>
              <a:rPr kumimoji="0" lang="en-US" altLang="ro-RO" sz="1800" b="1" i="0" u="none" strike="noStrike" cap="all" spc="300" normalizeH="0" dirty="0" err="1">
                <a:ln>
                  <a:noFill/>
                </a:ln>
                <a:effectLst/>
              </a:rPr>
              <a:t>scalabil</a:t>
            </a:r>
            <a:r>
              <a:rPr kumimoji="0" lang="en-US" altLang="ro-RO" sz="1800" b="1" i="0" u="none" strike="noStrike" cap="all" spc="300" normalizeH="0" dirty="0">
                <a:ln>
                  <a:noFill/>
                </a:ln>
                <a:effectLst/>
              </a:rPr>
              <a:t> </a:t>
            </a:r>
            <a:endParaRPr kumimoji="0" lang="ro-RO" altLang="ro-RO" sz="1800" b="1" i="0" u="none" strike="noStrike" cap="all" spc="300" normalizeH="0" dirty="0">
              <a:ln>
                <a:noFill/>
              </a:ln>
              <a:effectLst/>
            </a:endParaRPr>
          </a:p>
          <a:p>
            <a:pPr marR="0" lvl="0" fontAlgn="base">
              <a:spcAft>
                <a:spcPct val="0"/>
              </a:spcAft>
              <a:buClrTx/>
              <a:tabLst/>
            </a:pPr>
            <a:endParaRPr kumimoji="0" lang="en-US" altLang="ro-RO" sz="1800" b="1" i="0" u="none" strike="noStrike" cap="all" spc="300" normalizeH="0" dirty="0">
              <a:ln>
                <a:noFill/>
              </a:ln>
              <a:effectLst/>
            </a:endParaRPr>
          </a:p>
          <a:p>
            <a:pPr marR="0" lvl="0" fontAlgn="base">
              <a:spcAft>
                <a:spcPct val="0"/>
              </a:spcAft>
              <a:buClrTx/>
              <a:tabLst/>
            </a:pPr>
            <a:r>
              <a:rPr kumimoji="0" lang="en-US" altLang="ro-RO" sz="1800" b="1" i="0" u="none" strike="noStrike" cap="all" spc="300" normalizeH="0" dirty="0" err="1">
                <a:ln>
                  <a:noFill/>
                </a:ln>
                <a:effectLst/>
              </a:rPr>
              <a:t>acces</a:t>
            </a:r>
            <a:r>
              <a:rPr kumimoji="0" lang="en-US" altLang="ro-RO" sz="1800" b="1" i="0" u="none" strike="noStrike" cap="all" spc="300" normalizeH="0" dirty="0">
                <a:ln>
                  <a:noFill/>
                </a:ln>
                <a:effectLst/>
              </a:rPr>
              <a:t> remote </a:t>
            </a:r>
            <a:endParaRPr kumimoji="0" lang="ro-RO" altLang="ro-RO" sz="1800" b="1" i="0" u="none" strike="noStrike" cap="all" spc="300" normalizeH="0" dirty="0">
              <a:ln>
                <a:noFill/>
              </a:ln>
              <a:effectLst/>
            </a:endParaRPr>
          </a:p>
          <a:p>
            <a:pPr marR="0" lvl="0" fontAlgn="base">
              <a:spcAft>
                <a:spcPct val="0"/>
              </a:spcAft>
              <a:buClrTx/>
              <a:tabLst/>
            </a:pPr>
            <a:endParaRPr kumimoji="0" lang="en-US" altLang="ro-RO" sz="1800" b="1" i="0" u="none" strike="noStrike" cap="all" spc="300" normalizeH="0" dirty="0">
              <a:ln>
                <a:noFill/>
              </a:ln>
              <a:effectLst/>
            </a:endParaRPr>
          </a:p>
          <a:p>
            <a:pPr marR="0" lvl="0" fontAlgn="base">
              <a:spcAft>
                <a:spcPct val="0"/>
              </a:spcAft>
              <a:buClrTx/>
              <a:tabLst/>
            </a:pPr>
            <a:r>
              <a:rPr kumimoji="0" lang="en-US" altLang="ro-RO" sz="1800" b="1" i="0" u="none" strike="noStrike" cap="all" spc="300" normalizeH="0" dirty="0" err="1">
                <a:ln>
                  <a:noFill/>
                </a:ln>
                <a:effectLst/>
              </a:rPr>
              <a:t>ușor</a:t>
            </a:r>
            <a:r>
              <a:rPr kumimoji="0" lang="en-US" altLang="ro-RO" sz="1800" b="1" i="0" u="none" strike="noStrike" cap="all" spc="300" normalizeH="0" dirty="0">
                <a:ln>
                  <a:noFill/>
                </a:ln>
                <a:effectLst/>
              </a:rPr>
              <a:t> de </a:t>
            </a:r>
            <a:r>
              <a:rPr kumimoji="0" lang="en-US" altLang="ro-RO" sz="1800" b="1" i="0" u="none" strike="noStrike" cap="all" spc="300" normalizeH="0" dirty="0" err="1">
                <a:ln>
                  <a:noFill/>
                </a:ln>
                <a:effectLst/>
              </a:rPr>
              <a:t>extins</a:t>
            </a:r>
            <a:r>
              <a:rPr kumimoji="0" lang="en-US" altLang="ro-RO" sz="1800" b="1" i="0" u="none" strike="noStrike" cap="all" spc="300" normalizeH="0" dirty="0">
                <a:ln>
                  <a:noFill/>
                </a:ln>
                <a:effectLst/>
              </a:rPr>
              <a:t> </a:t>
            </a:r>
          </a:p>
        </p:txBody>
      </p:sp>
      <p:pic>
        <p:nvPicPr>
          <p:cNvPr id="7" name="Imagine 6">
            <a:extLst>
              <a:ext uri="{FF2B5EF4-FFF2-40B4-BE49-F238E27FC236}">
                <a16:creationId xmlns:a16="http://schemas.microsoft.com/office/drawing/2014/main" id="{35329913-A1AC-EC0E-E7B5-94D26B8E3CA6}"/>
              </a:ext>
            </a:extLst>
          </p:cNvPr>
          <p:cNvPicPr>
            <a:picLocks noChangeAspect="1"/>
          </p:cNvPicPr>
          <p:nvPr/>
        </p:nvPicPr>
        <p:blipFill>
          <a:blip r:embed="rId2"/>
          <a:stretch>
            <a:fillRect/>
          </a:stretch>
        </p:blipFill>
        <p:spPr>
          <a:xfrm>
            <a:off x="1560376" y="916445"/>
            <a:ext cx="5105745" cy="4861159"/>
          </a:xfrm>
          <a:prstGeom prst="rect">
            <a:avLst/>
          </a:prstGeom>
        </p:spPr>
      </p:pic>
      <p:cxnSp>
        <p:nvCxnSpPr>
          <p:cNvPr id="16" name="Straight Connector 15">
            <a:extLst>
              <a:ext uri="{FF2B5EF4-FFF2-40B4-BE49-F238E27FC236}">
                <a16:creationId xmlns:a16="http://schemas.microsoft.com/office/drawing/2014/main" id="{94AC3912-9445-326E-F355-EA4A288013D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36552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ndulare dublă 5">
            <a:extLst>
              <a:ext uri="{FF2B5EF4-FFF2-40B4-BE49-F238E27FC236}">
                <a16:creationId xmlns:a16="http://schemas.microsoft.com/office/drawing/2014/main" id="{F0010EC7-3702-80C1-8D24-042E99BD3CE2}"/>
              </a:ext>
            </a:extLst>
          </p:cNvPr>
          <p:cNvSpPr/>
          <p:nvPr/>
        </p:nvSpPr>
        <p:spPr>
          <a:xfrm>
            <a:off x="619433" y="1445342"/>
            <a:ext cx="3401961" cy="865239"/>
          </a:xfrm>
          <a:prstGeom prst="doubleWave">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ro-RO"/>
          </a:p>
        </p:txBody>
      </p:sp>
      <p:sp>
        <p:nvSpPr>
          <p:cNvPr id="2" name="Titlu 1">
            <a:extLst>
              <a:ext uri="{FF2B5EF4-FFF2-40B4-BE49-F238E27FC236}">
                <a16:creationId xmlns:a16="http://schemas.microsoft.com/office/drawing/2014/main" id="{9E46F648-DE7B-1D1C-47B4-5902D1F0EBFD}"/>
              </a:ext>
            </a:extLst>
          </p:cNvPr>
          <p:cNvSpPr>
            <a:spLocks noGrp="1"/>
          </p:cNvSpPr>
          <p:nvPr>
            <p:ph type="ctrTitle"/>
          </p:nvPr>
        </p:nvSpPr>
        <p:spPr>
          <a:xfrm>
            <a:off x="640080" y="1371599"/>
            <a:ext cx="6675120" cy="1200329"/>
          </a:xfrm>
        </p:spPr>
        <p:txBody>
          <a:bodyPr/>
          <a:lstStyle/>
          <a:p>
            <a:r>
              <a:rPr lang="ro-RO" dirty="0"/>
              <a:t>Concluzie</a:t>
            </a:r>
          </a:p>
        </p:txBody>
      </p:sp>
      <p:sp>
        <p:nvSpPr>
          <p:cNvPr id="5" name="CasetăText 4">
            <a:extLst>
              <a:ext uri="{FF2B5EF4-FFF2-40B4-BE49-F238E27FC236}">
                <a16:creationId xmlns:a16="http://schemas.microsoft.com/office/drawing/2014/main" id="{3460D5B0-21FB-5928-1EEE-03A5556A112C}"/>
              </a:ext>
            </a:extLst>
          </p:cNvPr>
          <p:cNvSpPr txBox="1"/>
          <p:nvPr/>
        </p:nvSpPr>
        <p:spPr>
          <a:xfrm>
            <a:off x="640080" y="3163949"/>
            <a:ext cx="10697497" cy="1200329"/>
          </a:xfrm>
          <a:prstGeom prst="rect">
            <a:avLst/>
          </a:prstGeom>
          <a:noFill/>
        </p:spPr>
        <p:txBody>
          <a:bodyPr wrap="square">
            <a:spAutoFit/>
          </a:bodyPr>
          <a:lstStyle/>
          <a:p>
            <a:r>
              <a:rPr lang="ro-RO" dirty="0"/>
              <a:t>	Proiectul </a:t>
            </a:r>
            <a:r>
              <a:rPr lang="ro-RO" dirty="0" err="1"/>
              <a:t>Smart</a:t>
            </a:r>
            <a:r>
              <a:rPr lang="ro-RO" dirty="0"/>
              <a:t> </a:t>
            </a:r>
            <a:r>
              <a:rPr lang="ro-RO" dirty="0" err="1"/>
              <a:t>Comfort</a:t>
            </a:r>
            <a:r>
              <a:rPr lang="ro-RO" dirty="0"/>
              <a:t> Control demonstrează implementarea unui sistem </a:t>
            </a:r>
            <a:r>
              <a:rPr lang="ro-RO" dirty="0" err="1"/>
              <a:t>IoT</a:t>
            </a:r>
            <a:r>
              <a:rPr lang="ro-RO" dirty="0"/>
              <a:t> complet, capabil să monitorizeze și să controleze condițiile ambientale în mod automat. Prin utilizarea logicii fuzzy și a unei arhitecturi moderne bazate pe ESP32 și tehnologii web, sistemul oferă o soluție eficientă, flexibilă și ușor de extins</a:t>
            </a:r>
          </a:p>
        </p:txBody>
      </p:sp>
    </p:spTree>
    <p:extLst>
      <p:ext uri="{BB962C8B-B14F-4D97-AF65-F5344CB8AC3E}">
        <p14:creationId xmlns:p14="http://schemas.microsoft.com/office/powerpoint/2010/main" val="2583786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4EF89F4C-5A72-5FC4-7AB2-CECC2FE30182}"/>
              </a:ext>
            </a:extLst>
          </p:cNvPr>
          <p:cNvSpPr>
            <a:spLocks noGrp="1"/>
          </p:cNvSpPr>
          <p:nvPr>
            <p:ph type="title"/>
          </p:nvPr>
        </p:nvSpPr>
        <p:spPr/>
        <p:txBody>
          <a:bodyPr/>
          <a:lstStyle/>
          <a:p>
            <a:pPr algn="ctr"/>
            <a:r>
              <a:rPr lang="ro-RO" dirty="0"/>
              <a:t>Bibliografie</a:t>
            </a:r>
          </a:p>
        </p:txBody>
      </p:sp>
      <p:sp>
        <p:nvSpPr>
          <p:cNvPr id="4" name="Rectangle 1">
            <a:extLst>
              <a:ext uri="{FF2B5EF4-FFF2-40B4-BE49-F238E27FC236}">
                <a16:creationId xmlns:a16="http://schemas.microsoft.com/office/drawing/2014/main" id="{5D6BD92C-510E-C509-65C2-DA3721F89C7E}"/>
              </a:ext>
            </a:extLst>
          </p:cNvPr>
          <p:cNvSpPr>
            <a:spLocks noGrp="1" noChangeArrowheads="1"/>
          </p:cNvSpPr>
          <p:nvPr>
            <p:ph idx="1"/>
          </p:nvPr>
        </p:nvSpPr>
        <p:spPr bwMode="auto">
          <a:xfrm>
            <a:off x="640080" y="3262393"/>
            <a:ext cx="558358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ro-RO" altLang="ro-RO"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ro-RO" altLang="ro-RO" sz="1800" b="0" i="0" u="none" strike="noStrike" cap="none" normalizeH="0" baseline="0" dirty="0">
                <a:ln>
                  <a:noFill/>
                </a:ln>
                <a:solidFill>
                  <a:schemeClr val="tx1"/>
                </a:solidFill>
                <a:effectLst/>
                <a:latin typeface="+mj-lt"/>
              </a:rPr>
              <a:t>Documentație oficială ESP32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ro-RO" altLang="ro-RO" sz="1800" b="0" i="0" u="none" strike="noStrike" cap="none" normalizeH="0" baseline="0" dirty="0">
              <a:ln>
                <a:noFill/>
              </a:ln>
              <a:solidFill>
                <a:schemeClr val="tx1"/>
              </a:solidFill>
              <a:effectLst/>
              <a:latin typeface="+mj-lt"/>
            </a:endParaRPr>
          </a:p>
          <a:p>
            <a:pPr marL="0" marR="0" lvl="0" indent="0" algn="l" defTabSz="914400" rtl="0" eaLnBrk="0" fontAlgn="base" latinLnBrk="0" hangingPunct="0">
              <a:lnSpc>
                <a:spcPct val="100000"/>
              </a:lnSpc>
              <a:spcBef>
                <a:spcPct val="0"/>
              </a:spcBef>
              <a:spcAft>
                <a:spcPct val="0"/>
              </a:spcAft>
              <a:buClrTx/>
              <a:buSzTx/>
              <a:buNone/>
              <a:tabLst/>
            </a:pPr>
            <a:r>
              <a:rPr kumimoji="0" lang="ro-RO" altLang="ro-RO" sz="1800" b="0" i="0" u="none" strike="noStrike" cap="none" normalizeH="0" baseline="0" dirty="0" err="1">
                <a:ln>
                  <a:noFill/>
                </a:ln>
                <a:solidFill>
                  <a:schemeClr val="tx1"/>
                </a:solidFill>
                <a:effectLst/>
                <a:latin typeface="+mj-lt"/>
              </a:rPr>
              <a:t>Arduino</a:t>
            </a:r>
            <a:r>
              <a:rPr kumimoji="0" lang="ro-RO" altLang="ro-RO" sz="1800" b="0" i="0" u="none" strike="noStrike" cap="none" normalizeH="0" baseline="0" dirty="0">
                <a:ln>
                  <a:noFill/>
                </a:ln>
                <a:solidFill>
                  <a:schemeClr val="tx1"/>
                </a:solidFill>
                <a:effectLst/>
                <a:latin typeface="+mj-lt"/>
              </a:rPr>
              <a:t> IDE </a:t>
            </a:r>
            <a:r>
              <a:rPr kumimoji="0" lang="ro-RO" altLang="ro-RO" sz="1800" b="0" i="0" u="none" strike="noStrike" cap="none" normalizeH="0" baseline="0" dirty="0" err="1">
                <a:ln>
                  <a:noFill/>
                </a:ln>
                <a:solidFill>
                  <a:schemeClr val="tx1"/>
                </a:solidFill>
                <a:effectLst/>
                <a:latin typeface="+mj-lt"/>
              </a:rPr>
              <a:t>Documentation</a:t>
            </a:r>
            <a:r>
              <a:rPr kumimoji="0" lang="ro-RO" altLang="ro-RO" sz="1800" b="0" i="0" u="none" strike="noStrike" cap="none" normalizeH="0" baseline="0" dirty="0">
                <a:ln>
                  <a:noFill/>
                </a:ln>
                <a:solidFill>
                  <a:schemeClr val="tx1"/>
                </a:solidFill>
                <a:effectLst/>
                <a:latin typeface="+mj-lt"/>
              </a:rPr>
              <a:t> </a:t>
            </a:r>
          </a:p>
          <a:p>
            <a:pPr marL="0" marR="0" lvl="0" indent="0" algn="l" defTabSz="914400" rtl="0" eaLnBrk="0" fontAlgn="base" latinLnBrk="0" hangingPunct="0">
              <a:lnSpc>
                <a:spcPct val="100000"/>
              </a:lnSpc>
              <a:spcBef>
                <a:spcPct val="0"/>
              </a:spcBef>
              <a:spcAft>
                <a:spcPct val="0"/>
              </a:spcAft>
              <a:buClrTx/>
              <a:buSzTx/>
              <a:buNone/>
              <a:tabLst/>
            </a:pPr>
            <a:endParaRPr kumimoji="0" lang="ro-RO" altLang="ro-RO" sz="1800" b="0" i="0" u="none" strike="noStrike" cap="none" normalizeH="0" baseline="0" dirty="0">
              <a:ln>
                <a:noFill/>
              </a:ln>
              <a:solidFill>
                <a:schemeClr val="tx1"/>
              </a:solidFill>
              <a:effectLst/>
              <a:latin typeface="+mj-lt"/>
            </a:endParaRPr>
          </a:p>
          <a:p>
            <a:pPr marL="0" lvl="0" indent="0" eaLnBrk="0" fontAlgn="base" hangingPunct="0">
              <a:lnSpc>
                <a:spcPct val="100000"/>
              </a:lnSpc>
              <a:spcBef>
                <a:spcPct val="0"/>
              </a:spcBef>
              <a:spcAft>
                <a:spcPct val="0"/>
              </a:spcAft>
              <a:buSzTx/>
              <a:buNone/>
            </a:pPr>
            <a:r>
              <a:rPr kumimoji="0" lang="ro-RO" altLang="ro-RO" sz="1800" b="0" i="0" u="none" strike="noStrike" cap="none" normalizeH="0" baseline="0" dirty="0">
                <a:ln>
                  <a:noFill/>
                </a:ln>
                <a:solidFill>
                  <a:schemeClr val="tx1"/>
                </a:solidFill>
                <a:effectLst/>
                <a:latin typeface="+mj-lt"/>
              </a:rPr>
              <a:t>Node.js </a:t>
            </a:r>
            <a:r>
              <a:rPr kumimoji="0" lang="ro-RO" altLang="ro-RO" sz="1800" b="0" i="0" u="none" strike="noStrike" cap="none" normalizeH="0" baseline="0" dirty="0" err="1">
                <a:ln>
                  <a:noFill/>
                </a:ln>
                <a:solidFill>
                  <a:schemeClr val="tx1"/>
                </a:solidFill>
                <a:effectLst/>
                <a:latin typeface="+mj-lt"/>
              </a:rPr>
              <a:t>Official</a:t>
            </a:r>
            <a:r>
              <a:rPr kumimoji="0" lang="ro-RO" altLang="ro-RO" sz="1800" b="0" i="0" u="none" strike="noStrike" cap="none" normalizeH="0" baseline="0" dirty="0">
                <a:ln>
                  <a:noFill/>
                </a:ln>
                <a:solidFill>
                  <a:schemeClr val="tx1"/>
                </a:solidFill>
                <a:effectLst/>
                <a:latin typeface="+mj-lt"/>
              </a:rPr>
              <a:t> </a:t>
            </a:r>
            <a:r>
              <a:rPr kumimoji="0" lang="ro-RO" altLang="ro-RO" sz="1800" b="0" i="0" u="none" strike="noStrike" cap="none" normalizeH="0" baseline="0" dirty="0" err="1">
                <a:ln>
                  <a:noFill/>
                </a:ln>
                <a:solidFill>
                  <a:schemeClr val="tx1"/>
                </a:solidFill>
                <a:effectLst/>
                <a:latin typeface="+mj-lt"/>
              </a:rPr>
              <a:t>Documentation</a:t>
            </a:r>
            <a:r>
              <a:rPr lang="ro-RO" altLang="ro-RO" sz="1800" dirty="0">
                <a:latin typeface="+mj-lt"/>
              </a:rPr>
              <a:t> - </a:t>
            </a:r>
            <a:r>
              <a:rPr lang="ro-RO" sz="1800" dirty="0">
                <a:latin typeface="+mj-lt"/>
                <a:hlinkClick r:id="rId2"/>
              </a:rPr>
              <a:t>https://nodejs.org</a:t>
            </a:r>
            <a:r>
              <a:rPr lang="ro-RO" sz="1800" dirty="0">
                <a:latin typeface="+mj-lt"/>
              </a:rPr>
              <a:t> </a:t>
            </a:r>
          </a:p>
          <a:p>
            <a:pPr marL="0" lvl="0" indent="0" eaLnBrk="0" fontAlgn="base" hangingPunct="0">
              <a:lnSpc>
                <a:spcPct val="100000"/>
              </a:lnSpc>
              <a:spcBef>
                <a:spcPct val="0"/>
              </a:spcBef>
              <a:spcAft>
                <a:spcPct val="0"/>
              </a:spcAft>
              <a:buSzTx/>
              <a:buNone/>
            </a:pPr>
            <a:endParaRPr kumimoji="0" lang="ro-RO" altLang="ro-RO" sz="1800" b="0" i="0" u="none" strike="noStrike" cap="none" normalizeH="0" baseline="0" dirty="0">
              <a:ln>
                <a:noFill/>
              </a:ln>
              <a:solidFill>
                <a:schemeClr val="tx1"/>
              </a:solidFill>
              <a:effectLst/>
              <a:latin typeface="+mj-lt"/>
            </a:endParaRPr>
          </a:p>
          <a:p>
            <a:pPr marL="0" lvl="0" indent="0" eaLnBrk="0" fontAlgn="base" hangingPunct="0">
              <a:lnSpc>
                <a:spcPct val="100000"/>
              </a:lnSpc>
              <a:spcBef>
                <a:spcPct val="0"/>
              </a:spcBef>
              <a:spcAft>
                <a:spcPct val="0"/>
              </a:spcAft>
              <a:buSzTx/>
              <a:buNone/>
            </a:pPr>
            <a:r>
              <a:rPr lang="ro-RO" sz="1800" dirty="0" err="1">
                <a:latin typeface="+mj-lt"/>
              </a:rPr>
              <a:t>Tutoriale</a:t>
            </a:r>
            <a:r>
              <a:rPr lang="ro-RO" sz="1800" dirty="0">
                <a:latin typeface="+mj-lt"/>
              </a:rPr>
              <a:t> și resurse online pentru senzori DHT și MQ</a:t>
            </a:r>
            <a:r>
              <a:rPr kumimoji="0" lang="ro-RO" altLang="ro-RO" sz="1800" b="0" i="0" u="none" strike="noStrike" cap="none" normalizeH="0" baseline="0" dirty="0">
                <a:ln>
                  <a:noFill/>
                </a:ln>
                <a:solidFill>
                  <a:schemeClr val="tx1"/>
                </a:solidFill>
                <a:effectLst/>
                <a:latin typeface="+mj-lt"/>
              </a:rPr>
              <a:t> </a:t>
            </a:r>
          </a:p>
        </p:txBody>
      </p:sp>
      <p:pic>
        <p:nvPicPr>
          <p:cNvPr id="6" name="Imagine 5">
            <a:extLst>
              <a:ext uri="{FF2B5EF4-FFF2-40B4-BE49-F238E27FC236}">
                <a16:creationId xmlns:a16="http://schemas.microsoft.com/office/drawing/2014/main" id="{72795E07-DDAE-5C27-761A-65D9963C7A51}"/>
              </a:ext>
            </a:extLst>
          </p:cNvPr>
          <p:cNvPicPr>
            <a:picLocks noChangeAspect="1"/>
          </p:cNvPicPr>
          <p:nvPr/>
        </p:nvPicPr>
        <p:blipFill>
          <a:blip r:embed="rId3"/>
          <a:stretch>
            <a:fillRect/>
          </a:stretch>
        </p:blipFill>
        <p:spPr>
          <a:xfrm>
            <a:off x="560439" y="479582"/>
            <a:ext cx="1700981" cy="1320611"/>
          </a:xfrm>
          <a:prstGeom prst="rect">
            <a:avLst/>
          </a:prstGeom>
        </p:spPr>
      </p:pic>
    </p:spTree>
    <p:extLst>
      <p:ext uri="{BB962C8B-B14F-4D97-AF65-F5344CB8AC3E}">
        <p14:creationId xmlns:p14="http://schemas.microsoft.com/office/powerpoint/2010/main" val="25719925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a:extLst>
              <a:ext uri="{FF2B5EF4-FFF2-40B4-BE49-F238E27FC236}">
                <a16:creationId xmlns:a16="http://schemas.microsoft.com/office/drawing/2014/main" id="{4FC45AD8-4F9B-F54A-48E2-0EB93CEDF11D}"/>
              </a:ext>
            </a:extLst>
          </p:cNvPr>
          <p:cNvSpPr>
            <a:spLocks noGrp="1"/>
          </p:cNvSpPr>
          <p:nvPr>
            <p:ph type="title"/>
          </p:nvPr>
        </p:nvSpPr>
        <p:spPr>
          <a:xfrm>
            <a:off x="650535" y="2880360"/>
            <a:ext cx="10890929" cy="1097280"/>
          </a:xfrm>
        </p:spPr>
        <p:txBody>
          <a:bodyPr/>
          <a:lstStyle/>
          <a:p>
            <a:pPr algn="ctr"/>
            <a:r>
              <a:rPr lang="ro-RO" dirty="0"/>
              <a:t>Mulțumesc!</a:t>
            </a:r>
          </a:p>
        </p:txBody>
      </p:sp>
    </p:spTree>
    <p:extLst>
      <p:ext uri="{BB962C8B-B14F-4D97-AF65-F5344CB8AC3E}">
        <p14:creationId xmlns:p14="http://schemas.microsoft.com/office/powerpoint/2010/main" val="924939263"/>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Temă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111</TotalTime>
  <Words>494</Words>
  <Application>Microsoft Office PowerPoint</Application>
  <PresentationFormat>Ecran lat</PresentationFormat>
  <Paragraphs>69</Paragraphs>
  <Slides>13</Slides>
  <Notes>2</Notes>
  <HiddenSlides>0</HiddenSlides>
  <MMClips>0</MMClips>
  <ScaleCrop>false</ScaleCrop>
  <HeadingPairs>
    <vt:vector size="6" baseType="variant">
      <vt:variant>
        <vt:lpstr>Fonturi utilizate</vt:lpstr>
      </vt:variant>
      <vt:variant>
        <vt:i4>4</vt:i4>
      </vt:variant>
      <vt:variant>
        <vt:lpstr>Temă</vt:lpstr>
      </vt:variant>
      <vt:variant>
        <vt:i4>1</vt:i4>
      </vt:variant>
      <vt:variant>
        <vt:lpstr>Titluri diapozitive</vt:lpstr>
      </vt:variant>
      <vt:variant>
        <vt:i4>13</vt:i4>
      </vt:variant>
    </vt:vector>
  </HeadingPairs>
  <TitlesOfParts>
    <vt:vector size="18" baseType="lpstr">
      <vt:lpstr>Aptos</vt:lpstr>
      <vt:lpstr>Arial</vt:lpstr>
      <vt:lpstr>Grandview Display</vt:lpstr>
      <vt:lpstr>Grandview Display (Corp)</vt:lpstr>
      <vt:lpstr>DashVTI</vt:lpstr>
      <vt:lpstr>Smart Comfort Control</vt:lpstr>
      <vt:lpstr>Importanța sistemului </vt:lpstr>
      <vt:lpstr>Obiectivul proiectului</vt:lpstr>
      <vt:lpstr>Arhitectura sistemului</vt:lpstr>
      <vt:lpstr>Componentele sistemului</vt:lpstr>
      <vt:lpstr>Reglarea automată</vt:lpstr>
      <vt:lpstr>Funcționalități principale</vt:lpstr>
      <vt:lpstr>Interfața web</vt:lpstr>
      <vt:lpstr>Demonstrare</vt:lpstr>
      <vt:lpstr>Avantaje</vt:lpstr>
      <vt:lpstr>Concluzie</vt:lpstr>
      <vt:lpstr>Bibliografie</vt:lpstr>
      <vt:lpstr>Mulțumesc!</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Coman, Raluca</dc:creator>
  <cp:lastModifiedBy>Coman, Raluca</cp:lastModifiedBy>
  <cp:revision>1</cp:revision>
  <dcterms:created xsi:type="dcterms:W3CDTF">2026-04-21T17:24:15Z</dcterms:created>
  <dcterms:modified xsi:type="dcterms:W3CDTF">2026-04-21T19:15:48Z</dcterms:modified>
</cp:coreProperties>
</file>